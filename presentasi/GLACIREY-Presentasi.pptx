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Halo semuanya! Di video ini saya akan menjelaskan project kelima saya: GLACIREY — sebuah web blog yang saya bangun dengan Django. Nama Glacirey adalah gabungan kata glacier, yang berarti gletser, dengan nama saya, Rey. Sesuai namanya, blog ini mengusung tema es dengan tampilan semi-3D yang terinspirasi dari website pemenang penghargaan, igloo.inc. Mari kita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belakangnya sederhana. Kebanyakan blog tampil datar dan statis, sehingga pembaca cepat bosan. Saya terinspirasi dari igloo.inc, situs yang membuktikan bahwa web bisa terasa punya kedalaman ruang. Tapi alih-alih memakai WebGL yang berat, saya memilih pendekatan semi-3D: ilusi kedalaman yang dibangun murni dengan CSS transform dan JavaScript — tanpa satu pun library eksternal. Hasilnya ringan dan cepat.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teknologinya, backend memakai Django versi 6 dengan database SQLite. Seluruh efek tiga dimensi dibangun dengan CSS murni: preserve-3d, perspective, dan transform. Interaksinya memakai JavaScript vanilla — Fetch API untuk komunikasi dengan server tanpa reload. Session Django saya manfaatkan untuk mencegah spam like dan menghitung view secara akurat. Perhatikan: tidak ada jQuery, tidak ada framework frontend — semuanya bawaan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Arsitekturnya mengikuti pola MVT milik Django: Model, View, Template. Saat browser meminta halaman, urls.py mencocokkan alamatnya, views.py memproses permintaan, mengambil data dari Model Post, lalu hasilnya dirender oleh template menjadi HTML. Model Post menyimpan judul, slug yang dibuat otomatis, konten, jumlah views dan likes. Ada empat endpoint utama — dua halaman biasa, dan dua endpoint JSON untuk fitur like dan live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bagian tampilannya. Ada empat elemen semi-3D utama. Pertama, kubus es tiga dimensi di halaman utama yang berputar mengikuti arah kursor. Kedua, kartu artikel dengan efek tilt — kartu miring ke arah kursor dan isinya terasa berlapis. Ketiga, latar belakang parallax tiga lapis: grid perspektif, pecahan es yang melayang, dan cahaya glow. Keempat, tema es gelap dengan efek kaca dan tekstur grain halus, persis nuansa igloo.inc. Nanti akan saya tunjukkan langsung di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fitur inovatif pertama: interaksi tanpa reload. Live search memunculkan hasil pencarian langsung saat kita mengetik, dengan teknik debounce dua ratus lima puluh milidetik supaya server tidak dibanjiri request. Pencariannya mencakup judul dan isi artikel. Lalu ada tombol like berbasis AJAX: angka berubah seketika tanpa halaman dimuat ulang, bisa di-unlike, dan ada anti-spam berbasis session sehingga satu pengunjung hanya bisa memberi satu like per artikel. Keamanannya dijaga dengan token CSRF.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inovatif kedua berfokus pada pengalaman membaca. View counter-nya cerdas: di-refresh berapa kali pun, angka hanya bertambah sekali per sesi pengunjung. Setiap artikel punya estimasi waktu baca yang dihitung otomatis dari jumlah kata. Saat membaca, ada progress bar di bagian atas yang terisi seiring kita scroll. Dan yang paling menarik: fitur text-to-speech — artikel bisa dibacakan dengan suara Bahasa Indonesia, memakai Web Speech API bawaan browser. Ini juga bentuk aksesibilitas untuk pengguna dengan gangguan penglihatan.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saatnya demo. Urutannya begini: pertama saya buka beranda — perhatikan kubus es dan latar belakang yang bergerak mengikuti kursor. Kedua, saya arahkan kursor ke kartu artikel untuk menunjukkan efek tilt tiga dimensinya. Ketiga, saya ketik kata kunci di kotak pencarian dan hasilnya muncul seketika. Keempat, saya buka salah satu artikel — di sini terlihat progress bar, estimasi waktu baca, dan view counter. Terakhir, saya klik tombol like dan memutar fitur text-to-speech. Rekam layar mengikuti urutan lima langkah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pengembangan ke depan, ada empat rencana. Pertama, deploy ke hosting online seperti PythonAnywhere supaya blog ini bisa diakses siapa pun lewat link publik. Kedua, kolom komentar agar pembaca bisa berdiskusi. Ketiga, sistem kategori dan tag supaya artikel mudah dijelajahi. Dan keempat, akun penulis dengan halaman tulis artikel sendiri, jadi tidak perlu lewat admin panel Django.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Itulah GLACIREY — blog semi-3D dengan tujuh fitur interaktif, empat elemen tampilan tiga dimensi, dan semuanya dibangun tanpa library eksternal: hanya Django, CSS, dan JavaScript murni. Terima kasih sudah menonton video penjelasan Project 5 ini. Sampai jumpa di project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Shape 0"/>
          <p:cNvSpPr/>
          <p:nvPr/>
        </p:nvSpPr>
        <p:spPr>
          <a:xfrm>
            <a:off x="8138160" y="-457200"/>
            <a:ext cx="1554480" cy="1554480"/>
          </a:xfrm>
          <a:prstGeom prst="diamond">
            <a:avLst/>
          </a:prstGeom>
          <a:solidFill>
            <a:srgbClr val="5CC8FF">
              <a:alpha val="8000"/>
            </a:srgbClr>
          </a:solidFill>
          <a:ln w="9525">
            <a:solidFill>
              <a:srgbClr val="5CC8FF">
                <a:alpha val="30000"/>
              </a:srgbClr>
            </a:solidFill>
            <a:prstDash val="solid"/>
          </a:ln>
        </p:spPr>
      </p:sp>
      <p:sp>
        <p:nvSpPr>
          <p:cNvPr id="3" name="Shape 1"/>
          <p:cNvSpPr/>
          <p:nvPr/>
        </p:nvSpPr>
        <p:spPr>
          <a:xfrm>
            <a:off x="-640080" y="4206240"/>
            <a:ext cx="1371600" cy="1371600"/>
          </a:xfrm>
          <a:prstGeom prst="diamond">
            <a:avLst/>
          </a:prstGeom>
          <a:solidFill>
            <a:srgbClr val="9DB8FF">
              <a:alpha val="7000"/>
            </a:srgbClr>
          </a:solidFill>
          <a:ln w="9525">
            <a:solidFill>
              <a:srgbClr val="9DB8FF">
                <a:alpha val="25000"/>
              </a:srgbClr>
            </a:solidFill>
            <a:prstDash val="solid"/>
          </a:ln>
        </p:spPr>
      </p:sp>
      <p:sp>
        <p:nvSpPr>
          <p:cNvPr id="4" name="Shape 2"/>
          <p:cNvSpPr/>
          <p:nvPr/>
        </p:nvSpPr>
        <p:spPr>
          <a:xfrm>
            <a:off x="1005840" y="1005840"/>
            <a:ext cx="457200" cy="457200"/>
          </a:xfrm>
          <a:prstGeom prst="diamond">
            <a:avLst/>
          </a:prstGeom>
          <a:solidFill>
            <a:srgbClr val="5CC8FF">
              <a:alpha val="15000"/>
            </a:srgbClr>
          </a:solidFill>
          <a:ln w="12700">
            <a:solidFill>
              <a:srgbClr val="5CC8FF">
                <a:alpha val="60000"/>
              </a:srgbClr>
            </a:solidFill>
            <a:prstDash val="solid"/>
          </a:ln>
        </p:spPr>
      </p:sp>
      <p:pic>
        <p:nvPicPr>
          <p:cNvPr id="5" name="Image 0" descr="preencoded.png">    </p:cNvPr>
          <p:cNvPicPr>
            <a:picLocks noChangeAspect="1"/>
          </p:cNvPicPr>
          <p:nvPr/>
        </p:nvPicPr>
        <p:blipFill>
          <a:blip r:embed="rId1"/>
          <a:stretch>
            <a:fillRect/>
          </a:stretch>
        </p:blipFill>
        <p:spPr>
          <a:xfrm>
            <a:off x="4297680" y="777240"/>
            <a:ext cx="548640" cy="548640"/>
          </a:xfrm>
          <a:prstGeom prst="rect">
            <a:avLst/>
          </a:prstGeom>
        </p:spPr>
      </p:pic>
      <p:sp>
        <p:nvSpPr>
          <p:cNvPr id="6" name="Text 3"/>
          <p:cNvSpPr/>
          <p:nvPr/>
        </p:nvSpPr>
        <p:spPr>
          <a:xfrm>
            <a:off x="457200" y="1554480"/>
            <a:ext cx="8229600" cy="320040"/>
          </a:xfrm>
          <a:prstGeom prst="rect">
            <a:avLst/>
          </a:prstGeom>
          <a:noFill/>
          <a:ln/>
        </p:spPr>
        <p:txBody>
          <a:bodyPr wrap="square" rtlCol="0" anchor="ctr"/>
          <a:lstStyle/>
          <a:p>
            <a:pPr algn="ctr" indent="0" marL="0">
              <a:buNone/>
            </a:pPr>
            <a:r>
              <a:rPr lang="en-US" sz="1300" b="1" spc="500" kern="0" dirty="0">
                <a:solidFill>
                  <a:srgbClr val="5CC8FF"/>
                </a:solidFill>
                <a:latin typeface="Arial" pitchFamily="34" charset="0"/>
                <a:ea typeface="Arial" pitchFamily="34" charset="-122"/>
                <a:cs typeface="Arial" pitchFamily="34" charset="-120"/>
              </a:rPr>
              <a:t>PROJECT 5 — WEB BLOG DENGAN DJANGO</a:t>
            </a:r>
            <a:endParaRPr lang="en-US" sz="1300" dirty="0"/>
          </a:p>
        </p:txBody>
      </p:sp>
      <p:sp>
        <p:nvSpPr>
          <p:cNvPr id="7" name="Text 4"/>
          <p:cNvSpPr/>
          <p:nvPr/>
        </p:nvSpPr>
        <p:spPr>
          <a:xfrm>
            <a:off x="457200" y="1874520"/>
            <a:ext cx="8229600" cy="1051560"/>
          </a:xfrm>
          <a:prstGeom prst="rect">
            <a:avLst/>
          </a:prstGeom>
          <a:noFill/>
          <a:ln/>
        </p:spPr>
        <p:txBody>
          <a:bodyPr wrap="square" rtlCol="0" anchor="ctr"/>
          <a:lstStyle/>
          <a:p>
            <a:pPr algn="ctr" indent="0" marL="0">
              <a:buNone/>
            </a:pPr>
            <a:r>
              <a:rPr lang="en-US" sz="6600" b="1" spc="400" kern="0" dirty="0">
                <a:solidFill>
                  <a:srgbClr val="E8F2FB"/>
                </a:solidFill>
                <a:latin typeface="Arial" pitchFamily="34" charset="0"/>
                <a:ea typeface="Arial" pitchFamily="34" charset="-122"/>
                <a:cs typeface="Arial" pitchFamily="34" charset="-120"/>
              </a:rPr>
              <a:t>GLACI</a:t>
            </a:r>
            <a:pPr algn="ctr" indent="0" marL="0">
              <a:buNone/>
            </a:pPr>
            <a:r>
              <a:rPr lang="en-US" sz="6600" b="1" spc="400" kern="0" dirty="0">
                <a:solidFill>
                  <a:srgbClr val="5CC8FF"/>
                </a:solidFill>
                <a:latin typeface="Arial" pitchFamily="34" charset="0"/>
                <a:ea typeface="Arial" pitchFamily="34" charset="-122"/>
                <a:cs typeface="Arial" pitchFamily="34" charset="-120"/>
              </a:rPr>
              <a:t>REY</a:t>
            </a:r>
            <a:endParaRPr lang="en-US" sz="6600" dirty="0"/>
          </a:p>
        </p:txBody>
      </p:sp>
      <p:sp>
        <p:nvSpPr>
          <p:cNvPr id="8" name="Text 5"/>
          <p:cNvSpPr/>
          <p:nvPr/>
        </p:nvSpPr>
        <p:spPr>
          <a:xfrm>
            <a:off x="1371600" y="3017520"/>
            <a:ext cx="6400800" cy="365760"/>
          </a:xfrm>
          <a:prstGeom prst="rect">
            <a:avLst/>
          </a:prstGeom>
          <a:noFill/>
          <a:ln/>
        </p:spPr>
        <p:txBody>
          <a:bodyPr wrap="square" rtlCol="0" anchor="ctr"/>
          <a:lstStyle/>
          <a:p>
            <a:pPr algn="ctr" indent="0" marL="0">
              <a:buNone/>
            </a:pPr>
            <a:r>
              <a:rPr lang="en-US" sz="1600" dirty="0">
                <a:solidFill>
                  <a:srgbClr val="9FB8CE"/>
                </a:solidFill>
                <a:latin typeface="Arial" pitchFamily="34" charset="0"/>
                <a:ea typeface="Arial" pitchFamily="34" charset="-122"/>
                <a:cs typeface="Arial" pitchFamily="34" charset="-120"/>
              </a:rPr>
              <a:t>Blog Semi-3D dengan Fitur Interaktif — terinspirasi igloo.inc</a:t>
            </a:r>
            <a:endParaRPr lang="en-US" sz="1600" dirty="0"/>
          </a:p>
        </p:txBody>
      </p:sp>
      <p:sp>
        <p:nvSpPr>
          <p:cNvPr id="9" name="Text 6"/>
          <p:cNvSpPr/>
          <p:nvPr/>
        </p:nvSpPr>
        <p:spPr>
          <a:xfrm>
            <a:off x="1371600" y="4114800"/>
            <a:ext cx="6400800" cy="320040"/>
          </a:xfrm>
          <a:prstGeom prst="rect">
            <a:avLst/>
          </a:prstGeom>
          <a:noFill/>
          <a:ln/>
        </p:spPr>
        <p:txBody>
          <a:bodyPr wrap="square" rtlCol="0" anchor="ctr"/>
          <a:lstStyle/>
          <a:p>
            <a:pPr algn="ctr" indent="0" marL="0">
              <a:buNone/>
            </a:pPr>
            <a:r>
              <a:rPr lang="en-US" sz="1200" dirty="0">
                <a:solidFill>
                  <a:srgbClr val="9FB8CE"/>
                </a:solidFill>
                <a:latin typeface="Arial" pitchFamily="34" charset="0"/>
                <a:ea typeface="Arial" pitchFamily="34" charset="-122"/>
                <a:cs typeface="Arial" pitchFamily="34" charset="-120"/>
              </a:rPr>
              <a:t>Dibuat oleh Rey  ·  Juli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01 — LATAR BELAKANG</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Kenapa Blog Semi-3D?</a:t>
            </a:r>
            <a:endParaRPr lang="en-US" sz="3000" dirty="0"/>
          </a:p>
        </p:txBody>
      </p:sp>
      <p:sp>
        <p:nvSpPr>
          <p:cNvPr id="4" name="Shape 2"/>
          <p:cNvSpPr/>
          <p:nvPr/>
        </p:nvSpPr>
        <p:spPr>
          <a:xfrm>
            <a:off x="457200" y="1325880"/>
            <a:ext cx="4937760" cy="1051560"/>
          </a:xfrm>
          <a:prstGeom prst="roundRect">
            <a:avLst>
              <a:gd name="adj" fmla="val 1043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85800" y="1444752"/>
            <a:ext cx="4480560" cy="274320"/>
          </a:xfrm>
          <a:prstGeom prst="rect">
            <a:avLst/>
          </a:prstGeom>
          <a:noFill/>
          <a:ln/>
        </p:spPr>
        <p:txBody>
          <a:bodyPr wrap="square" lIns="0" tIns="0" rIns="0" bIns="0" rtlCol="0" anchor="ctr"/>
          <a:lstStyle/>
          <a:p>
            <a:pPr indent="0" marL="0">
              <a:buNone/>
            </a:pPr>
            <a:r>
              <a:rPr lang="en-US" sz="1400" b="1" dirty="0">
                <a:solidFill>
                  <a:srgbClr val="5CC8FF"/>
                </a:solidFill>
                <a:latin typeface="Arial" pitchFamily="34" charset="0"/>
                <a:ea typeface="Arial" pitchFamily="34" charset="-122"/>
                <a:cs typeface="Arial" pitchFamily="34" charset="-120"/>
              </a:rPr>
              <a:t>Masalah</a:t>
            </a:r>
            <a:endParaRPr lang="en-US" sz="1400" dirty="0"/>
          </a:p>
        </p:txBody>
      </p:sp>
      <p:sp>
        <p:nvSpPr>
          <p:cNvPr id="6" name="Text 4"/>
          <p:cNvSpPr/>
          <p:nvPr/>
        </p:nvSpPr>
        <p:spPr>
          <a:xfrm>
            <a:off x="685800" y="1709928"/>
            <a:ext cx="4480560" cy="566928"/>
          </a:xfrm>
          <a:prstGeom prst="rect">
            <a:avLst/>
          </a:prstGeom>
          <a:noFill/>
          <a:ln/>
        </p:spPr>
        <p:txBody>
          <a:bodyPr wrap="square" lIns="0" tIns="0" rIns="0" bIns="0" rtlCol="0" anchor="ctr"/>
          <a:lstStyle/>
          <a:p>
            <a:pPr indent="0" marL="0">
              <a:lnSpc>
                <a:spcPct val="110000"/>
              </a:lnSpc>
              <a:buNone/>
            </a:pPr>
            <a:r>
              <a:rPr lang="en-US" sz="1150" dirty="0">
                <a:solidFill>
                  <a:srgbClr val="9FB8CE"/>
                </a:solidFill>
                <a:latin typeface="Arial" pitchFamily="34" charset="0"/>
                <a:ea typeface="Arial" pitchFamily="34" charset="-122"/>
                <a:cs typeface="Arial" pitchFamily="34" charset="-120"/>
              </a:rPr>
              <a:t>Kebanyakan blog tampil datar dan statis — pembaca cepat bosan dan tidak ada kesan yang tertinggal.</a:t>
            </a:r>
            <a:endParaRPr lang="en-US" sz="1150" dirty="0"/>
          </a:p>
        </p:txBody>
      </p:sp>
      <p:sp>
        <p:nvSpPr>
          <p:cNvPr id="7" name="Shape 5"/>
          <p:cNvSpPr/>
          <p:nvPr/>
        </p:nvSpPr>
        <p:spPr>
          <a:xfrm>
            <a:off x="457200" y="2532888"/>
            <a:ext cx="4937760" cy="1051560"/>
          </a:xfrm>
          <a:prstGeom prst="roundRect">
            <a:avLst>
              <a:gd name="adj" fmla="val 1043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685800" y="2651760"/>
            <a:ext cx="4480560" cy="274320"/>
          </a:xfrm>
          <a:prstGeom prst="rect">
            <a:avLst/>
          </a:prstGeom>
          <a:noFill/>
          <a:ln/>
        </p:spPr>
        <p:txBody>
          <a:bodyPr wrap="square" lIns="0" tIns="0" rIns="0" bIns="0" rtlCol="0" anchor="ctr"/>
          <a:lstStyle/>
          <a:p>
            <a:pPr indent="0" marL="0">
              <a:buNone/>
            </a:pPr>
            <a:r>
              <a:rPr lang="en-US" sz="1400" b="1" dirty="0">
                <a:solidFill>
                  <a:srgbClr val="5CC8FF"/>
                </a:solidFill>
                <a:latin typeface="Arial" pitchFamily="34" charset="0"/>
                <a:ea typeface="Arial" pitchFamily="34" charset="-122"/>
                <a:cs typeface="Arial" pitchFamily="34" charset="-120"/>
              </a:rPr>
              <a:t>Inspirasi</a:t>
            </a:r>
            <a:endParaRPr lang="en-US" sz="1400" dirty="0"/>
          </a:p>
        </p:txBody>
      </p:sp>
      <p:sp>
        <p:nvSpPr>
          <p:cNvPr id="9" name="Text 7"/>
          <p:cNvSpPr/>
          <p:nvPr/>
        </p:nvSpPr>
        <p:spPr>
          <a:xfrm>
            <a:off x="685800" y="2916936"/>
            <a:ext cx="4480560" cy="566928"/>
          </a:xfrm>
          <a:prstGeom prst="rect">
            <a:avLst/>
          </a:prstGeom>
          <a:noFill/>
          <a:ln/>
        </p:spPr>
        <p:txBody>
          <a:bodyPr wrap="square" lIns="0" tIns="0" rIns="0" bIns="0" rtlCol="0" anchor="ctr"/>
          <a:lstStyle/>
          <a:p>
            <a:pPr indent="0" marL="0">
              <a:lnSpc>
                <a:spcPct val="110000"/>
              </a:lnSpc>
              <a:buNone/>
            </a:pPr>
            <a:r>
              <a:rPr lang="en-US" sz="1150" dirty="0">
                <a:solidFill>
                  <a:srgbClr val="9FB8CE"/>
                </a:solidFill>
                <a:latin typeface="Arial" pitchFamily="34" charset="0"/>
                <a:ea typeface="Arial" pitchFamily="34" charset="-122"/>
                <a:cs typeface="Arial" pitchFamily="34" charset="-120"/>
              </a:rPr>
              <a:t>Situs igloo.inc membuktikan web bisa terasa punya kedalaman ruang tanpa mengorbankan kecepatan.</a:t>
            </a:r>
            <a:endParaRPr lang="en-US" sz="1150" dirty="0"/>
          </a:p>
        </p:txBody>
      </p:sp>
      <p:sp>
        <p:nvSpPr>
          <p:cNvPr id="10" name="Shape 8"/>
          <p:cNvSpPr/>
          <p:nvPr/>
        </p:nvSpPr>
        <p:spPr>
          <a:xfrm>
            <a:off x="457200" y="3739896"/>
            <a:ext cx="4937760" cy="1051560"/>
          </a:xfrm>
          <a:prstGeom prst="roundRect">
            <a:avLst>
              <a:gd name="adj" fmla="val 1043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685800" y="3858768"/>
            <a:ext cx="4480560" cy="274320"/>
          </a:xfrm>
          <a:prstGeom prst="rect">
            <a:avLst/>
          </a:prstGeom>
          <a:noFill/>
          <a:ln/>
        </p:spPr>
        <p:txBody>
          <a:bodyPr wrap="square" lIns="0" tIns="0" rIns="0" bIns="0" rtlCol="0" anchor="ctr"/>
          <a:lstStyle/>
          <a:p>
            <a:pPr indent="0" marL="0">
              <a:buNone/>
            </a:pPr>
            <a:r>
              <a:rPr lang="en-US" sz="1400" b="1" dirty="0">
                <a:solidFill>
                  <a:srgbClr val="5CC8FF"/>
                </a:solidFill>
                <a:latin typeface="Arial" pitchFamily="34" charset="0"/>
                <a:ea typeface="Arial" pitchFamily="34" charset="-122"/>
                <a:cs typeface="Arial" pitchFamily="34" charset="-120"/>
              </a:rPr>
              <a:t>Tujuan</a:t>
            </a:r>
            <a:endParaRPr lang="en-US" sz="1400" dirty="0"/>
          </a:p>
        </p:txBody>
      </p:sp>
      <p:sp>
        <p:nvSpPr>
          <p:cNvPr id="12" name="Text 10"/>
          <p:cNvSpPr/>
          <p:nvPr/>
        </p:nvSpPr>
        <p:spPr>
          <a:xfrm>
            <a:off x="685800" y="4123944"/>
            <a:ext cx="4480560" cy="566928"/>
          </a:xfrm>
          <a:prstGeom prst="rect">
            <a:avLst/>
          </a:prstGeom>
          <a:noFill/>
          <a:ln/>
        </p:spPr>
        <p:txBody>
          <a:bodyPr wrap="square" lIns="0" tIns="0" rIns="0" bIns="0" rtlCol="0" anchor="ctr"/>
          <a:lstStyle/>
          <a:p>
            <a:pPr indent="0" marL="0">
              <a:lnSpc>
                <a:spcPct val="110000"/>
              </a:lnSpc>
              <a:buNone/>
            </a:pPr>
            <a:r>
              <a:rPr lang="en-US" sz="1150" dirty="0">
                <a:solidFill>
                  <a:srgbClr val="9FB8CE"/>
                </a:solidFill>
                <a:latin typeface="Arial" pitchFamily="34" charset="0"/>
                <a:ea typeface="Arial" pitchFamily="34" charset="-122"/>
                <a:cs typeface="Arial" pitchFamily="34" charset="-120"/>
              </a:rPr>
              <a:t>Membangun blog yang terasa hidup: elemen bereaksi terhadap kursor, fitur bekerja tanpa reload halaman.</a:t>
            </a:r>
            <a:endParaRPr lang="en-US" sz="1150" dirty="0"/>
          </a:p>
        </p:txBody>
      </p:sp>
      <p:sp>
        <p:nvSpPr>
          <p:cNvPr id="13" name="Shape 11"/>
          <p:cNvSpPr/>
          <p:nvPr/>
        </p:nvSpPr>
        <p:spPr>
          <a:xfrm>
            <a:off x="5760720" y="1325880"/>
            <a:ext cx="2926080" cy="3566160"/>
          </a:xfrm>
          <a:prstGeom prst="roundRect">
            <a:avLst>
              <a:gd name="adj" fmla="val 3750"/>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pic>
        <p:nvPicPr>
          <p:cNvPr id="14" name="Image 0" descr="preencoded.png">    </p:cNvPr>
          <p:cNvPicPr>
            <a:picLocks noChangeAspect="1"/>
          </p:cNvPicPr>
          <p:nvPr/>
        </p:nvPicPr>
        <p:blipFill>
          <a:blip r:embed="rId1"/>
          <a:stretch>
            <a:fillRect/>
          </a:stretch>
        </p:blipFill>
        <p:spPr>
          <a:xfrm>
            <a:off x="6903720" y="1691640"/>
            <a:ext cx="640080" cy="640080"/>
          </a:xfrm>
          <a:prstGeom prst="rect">
            <a:avLst/>
          </a:prstGeom>
        </p:spPr>
      </p:pic>
      <p:sp>
        <p:nvSpPr>
          <p:cNvPr id="15" name="Text 12"/>
          <p:cNvSpPr/>
          <p:nvPr/>
        </p:nvSpPr>
        <p:spPr>
          <a:xfrm>
            <a:off x="5943600" y="2468880"/>
            <a:ext cx="2560320" cy="320040"/>
          </a:xfrm>
          <a:prstGeom prst="rect">
            <a:avLst/>
          </a:prstGeom>
          <a:noFill/>
          <a:ln/>
        </p:spPr>
        <p:txBody>
          <a:bodyPr wrap="square" rtlCol="0" anchor="ctr"/>
          <a:lstStyle/>
          <a:p>
            <a:pPr algn="ctr" indent="0" marL="0">
              <a:buNone/>
            </a:pPr>
            <a:r>
              <a:rPr lang="en-US" sz="1800" b="1" dirty="0">
                <a:solidFill>
                  <a:srgbClr val="E8F2FB"/>
                </a:solidFill>
                <a:latin typeface="Arial" pitchFamily="34" charset="0"/>
                <a:ea typeface="Arial" pitchFamily="34" charset="-122"/>
                <a:cs typeface="Arial" pitchFamily="34" charset="-120"/>
              </a:rPr>
              <a:t>Semi-3D</a:t>
            </a:r>
            <a:endParaRPr lang="en-US" sz="1800" dirty="0"/>
          </a:p>
        </p:txBody>
      </p:sp>
      <p:sp>
        <p:nvSpPr>
          <p:cNvPr id="16" name="Text 13"/>
          <p:cNvSpPr/>
          <p:nvPr/>
        </p:nvSpPr>
        <p:spPr>
          <a:xfrm>
            <a:off x="5989320" y="2834640"/>
            <a:ext cx="2468880" cy="777240"/>
          </a:xfrm>
          <a:prstGeom prst="rect">
            <a:avLst/>
          </a:prstGeom>
          <a:noFill/>
          <a:ln/>
        </p:spPr>
        <p:txBody>
          <a:bodyPr wrap="square" rtlCol="0" anchor="ctr"/>
          <a:lstStyle/>
          <a:p>
            <a:pPr algn="ctr" indent="0" marL="0">
              <a:lnSpc>
                <a:spcPct val="115000"/>
              </a:lnSpc>
              <a:buNone/>
            </a:pPr>
            <a:r>
              <a:rPr lang="en-US" sz="1100" dirty="0">
                <a:solidFill>
                  <a:srgbClr val="9FB8CE"/>
                </a:solidFill>
                <a:latin typeface="Arial" pitchFamily="34" charset="0"/>
                <a:ea typeface="Arial" pitchFamily="34" charset="-122"/>
                <a:cs typeface="Arial" pitchFamily="34" charset="-120"/>
              </a:rPr>
              <a:t>Ilusi kedalaman dari CSS transform &amp; perspective — bukan WebGL yang berat.</a:t>
            </a:r>
            <a:endParaRPr lang="en-US" sz="1100" dirty="0"/>
          </a:p>
        </p:txBody>
      </p:sp>
      <p:sp>
        <p:nvSpPr>
          <p:cNvPr id="17" name="Text 14"/>
          <p:cNvSpPr/>
          <p:nvPr/>
        </p:nvSpPr>
        <p:spPr>
          <a:xfrm>
            <a:off x="5943600" y="3657600"/>
            <a:ext cx="2560320" cy="548640"/>
          </a:xfrm>
          <a:prstGeom prst="rect">
            <a:avLst/>
          </a:prstGeom>
          <a:noFill/>
          <a:ln/>
        </p:spPr>
        <p:txBody>
          <a:bodyPr wrap="square" rtlCol="0" anchor="ctr"/>
          <a:lstStyle/>
          <a:p>
            <a:pPr algn="ctr" indent="0" marL="0">
              <a:buNone/>
            </a:pPr>
            <a:r>
              <a:rPr lang="en-US" sz="3400" b="1" dirty="0">
                <a:solidFill>
                  <a:srgbClr val="5CC8FF"/>
                </a:solidFill>
                <a:latin typeface="Arial" pitchFamily="34" charset="0"/>
                <a:ea typeface="Arial" pitchFamily="34" charset="-122"/>
                <a:cs typeface="Arial" pitchFamily="34" charset="-120"/>
              </a:rPr>
              <a:t>0</a:t>
            </a:r>
            <a:endParaRPr lang="en-US" sz="3400" dirty="0"/>
          </a:p>
        </p:txBody>
      </p:sp>
      <p:sp>
        <p:nvSpPr>
          <p:cNvPr id="18" name="Text 15"/>
          <p:cNvSpPr/>
          <p:nvPr/>
        </p:nvSpPr>
        <p:spPr>
          <a:xfrm>
            <a:off x="5989320" y="4206240"/>
            <a:ext cx="2468880" cy="457200"/>
          </a:xfrm>
          <a:prstGeom prst="rect">
            <a:avLst/>
          </a:prstGeom>
          <a:noFill/>
          <a:ln/>
        </p:spPr>
        <p:txBody>
          <a:bodyPr wrap="square" rtlCol="0" anchor="ctr"/>
          <a:lstStyle/>
          <a:p>
            <a:pPr algn="ctr" indent="0" marL="0">
              <a:buNone/>
            </a:pPr>
            <a:r>
              <a:rPr lang="en-US" sz="1000" dirty="0">
                <a:solidFill>
                  <a:srgbClr val="9FB8CE"/>
                </a:solidFill>
                <a:latin typeface="Arial" pitchFamily="34" charset="0"/>
                <a:ea typeface="Arial" pitchFamily="34" charset="-122"/>
                <a:cs typeface="Arial" pitchFamily="34" charset="-120"/>
              </a:rPr>
              <a:t>library eksternal — murni CSS &amp; JavaScript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02 — TEKNOLOGI</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Teknologi yang Digunakan</a:t>
            </a:r>
            <a:endParaRPr lang="en-US" sz="3000" dirty="0"/>
          </a:p>
        </p:txBody>
      </p:sp>
      <p:sp>
        <p:nvSpPr>
          <p:cNvPr id="4" name="Shape 2"/>
          <p:cNvSpPr/>
          <p:nvPr/>
        </p:nvSpPr>
        <p:spPr>
          <a:xfrm>
            <a:off x="457200" y="128016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658368" y="1463040"/>
            <a:ext cx="457200" cy="457200"/>
          </a:xfrm>
          <a:prstGeom prst="ellipse">
            <a:avLst/>
          </a:prstGeom>
          <a:solidFill>
            <a:srgbClr val="1B3A57"/>
          </a:solidFill>
          <a:ln/>
        </p:spPr>
      </p:sp>
      <p:pic>
        <p:nvPicPr>
          <p:cNvPr id="6" name="Image 0" descr="preencoded.png">    </p:cNvPr>
          <p:cNvPicPr>
            <a:picLocks noChangeAspect="1"/>
          </p:cNvPicPr>
          <p:nvPr/>
        </p:nvPicPr>
        <p:blipFill>
          <a:blip r:embed="rId1"/>
          <a:stretch>
            <a:fillRect/>
          </a:stretch>
        </p:blipFill>
        <p:spPr>
          <a:xfrm>
            <a:off x="777240" y="1581912"/>
            <a:ext cx="219456" cy="219456"/>
          </a:xfrm>
          <a:prstGeom prst="rect">
            <a:avLst/>
          </a:prstGeom>
        </p:spPr>
      </p:pic>
      <p:sp>
        <p:nvSpPr>
          <p:cNvPr id="7" name="Text 4"/>
          <p:cNvSpPr/>
          <p:nvPr/>
        </p:nvSpPr>
        <p:spPr>
          <a:xfrm>
            <a:off x="1234440" y="151790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Django 6</a:t>
            </a:r>
            <a:endParaRPr lang="en-US" sz="1400" dirty="0"/>
          </a:p>
        </p:txBody>
      </p:sp>
      <p:sp>
        <p:nvSpPr>
          <p:cNvPr id="8" name="Text 5"/>
          <p:cNvSpPr/>
          <p:nvPr/>
        </p:nvSpPr>
        <p:spPr>
          <a:xfrm>
            <a:off x="658368" y="202996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Framework web Python: routing, ORM, template, dan admin panel bawaan.</a:t>
            </a:r>
            <a:endParaRPr lang="en-US" sz="1050" dirty="0"/>
          </a:p>
        </p:txBody>
      </p:sp>
      <p:sp>
        <p:nvSpPr>
          <p:cNvPr id="9" name="Shape 6"/>
          <p:cNvSpPr/>
          <p:nvPr/>
        </p:nvSpPr>
        <p:spPr>
          <a:xfrm>
            <a:off x="3259836" y="128016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3461004" y="1463040"/>
            <a:ext cx="457200" cy="457200"/>
          </a:xfrm>
          <a:prstGeom prst="ellipse">
            <a:avLst/>
          </a:prstGeom>
          <a:solidFill>
            <a:srgbClr val="1B3A57"/>
          </a:solidFill>
          <a:ln/>
        </p:spPr>
      </p:sp>
      <p:pic>
        <p:nvPicPr>
          <p:cNvPr id="11" name="Image 1" descr="preencoded.png">    </p:cNvPr>
          <p:cNvPicPr>
            <a:picLocks noChangeAspect="1"/>
          </p:cNvPicPr>
          <p:nvPr/>
        </p:nvPicPr>
        <p:blipFill>
          <a:blip r:embed="rId2"/>
          <a:stretch>
            <a:fillRect/>
          </a:stretch>
        </p:blipFill>
        <p:spPr>
          <a:xfrm>
            <a:off x="3579876" y="1581912"/>
            <a:ext cx="219456" cy="219456"/>
          </a:xfrm>
          <a:prstGeom prst="rect">
            <a:avLst/>
          </a:prstGeom>
        </p:spPr>
      </p:pic>
      <p:sp>
        <p:nvSpPr>
          <p:cNvPr id="12" name="Text 8"/>
          <p:cNvSpPr/>
          <p:nvPr/>
        </p:nvSpPr>
        <p:spPr>
          <a:xfrm>
            <a:off x="4037076" y="151790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SQLite</a:t>
            </a:r>
            <a:endParaRPr lang="en-US" sz="1400" dirty="0"/>
          </a:p>
        </p:txBody>
      </p:sp>
      <p:sp>
        <p:nvSpPr>
          <p:cNvPr id="13" name="Text 9"/>
          <p:cNvSpPr/>
          <p:nvPr/>
        </p:nvSpPr>
        <p:spPr>
          <a:xfrm>
            <a:off x="3461004" y="202996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Database ringan bawaan Django untuk menyimpan artikel, views, dan likes.</a:t>
            </a:r>
            <a:endParaRPr lang="en-US" sz="1050" dirty="0"/>
          </a:p>
        </p:txBody>
      </p:sp>
      <p:sp>
        <p:nvSpPr>
          <p:cNvPr id="14" name="Shape 10"/>
          <p:cNvSpPr/>
          <p:nvPr/>
        </p:nvSpPr>
        <p:spPr>
          <a:xfrm>
            <a:off x="6062472" y="128016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6263640" y="1463040"/>
            <a:ext cx="457200" cy="457200"/>
          </a:xfrm>
          <a:prstGeom prst="ellipse">
            <a:avLst/>
          </a:prstGeom>
          <a:solidFill>
            <a:srgbClr val="1B3A57"/>
          </a:solidFill>
          <a:ln/>
        </p:spPr>
      </p:sp>
      <p:pic>
        <p:nvPicPr>
          <p:cNvPr id="16" name="Image 2" descr="preencoded.png">    </p:cNvPr>
          <p:cNvPicPr>
            <a:picLocks noChangeAspect="1"/>
          </p:cNvPicPr>
          <p:nvPr/>
        </p:nvPicPr>
        <p:blipFill>
          <a:blip r:embed="rId3"/>
          <a:stretch>
            <a:fillRect/>
          </a:stretch>
        </p:blipFill>
        <p:spPr>
          <a:xfrm>
            <a:off x="6382512" y="1581912"/>
            <a:ext cx="219456" cy="219456"/>
          </a:xfrm>
          <a:prstGeom prst="rect">
            <a:avLst/>
          </a:prstGeom>
        </p:spPr>
      </p:pic>
      <p:sp>
        <p:nvSpPr>
          <p:cNvPr id="17" name="Text 12"/>
          <p:cNvSpPr/>
          <p:nvPr/>
        </p:nvSpPr>
        <p:spPr>
          <a:xfrm>
            <a:off x="6839712" y="151790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CSS 3D</a:t>
            </a:r>
            <a:endParaRPr lang="en-US" sz="1400" dirty="0"/>
          </a:p>
        </p:txBody>
      </p:sp>
      <p:sp>
        <p:nvSpPr>
          <p:cNvPr id="18" name="Text 13"/>
          <p:cNvSpPr/>
          <p:nvPr/>
        </p:nvSpPr>
        <p:spPr>
          <a:xfrm>
            <a:off x="6263640" y="202996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preserve-3d, perspective, dan transform untuk seluruh efek kedalaman.</a:t>
            </a:r>
            <a:endParaRPr lang="en-US" sz="1050" dirty="0"/>
          </a:p>
        </p:txBody>
      </p:sp>
      <p:sp>
        <p:nvSpPr>
          <p:cNvPr id="19" name="Shape 14"/>
          <p:cNvSpPr/>
          <p:nvPr/>
        </p:nvSpPr>
        <p:spPr>
          <a:xfrm>
            <a:off x="457200" y="320040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658368" y="3383280"/>
            <a:ext cx="457200" cy="457200"/>
          </a:xfrm>
          <a:prstGeom prst="ellipse">
            <a:avLst/>
          </a:prstGeom>
          <a:solidFill>
            <a:srgbClr val="1B3A57"/>
          </a:solidFill>
          <a:ln/>
        </p:spPr>
      </p:sp>
      <p:pic>
        <p:nvPicPr>
          <p:cNvPr id="21" name="Image 3" descr="preencoded.png">    </p:cNvPr>
          <p:cNvPicPr>
            <a:picLocks noChangeAspect="1"/>
          </p:cNvPicPr>
          <p:nvPr/>
        </p:nvPicPr>
        <p:blipFill>
          <a:blip r:embed="rId4"/>
          <a:stretch>
            <a:fillRect/>
          </a:stretch>
        </p:blipFill>
        <p:spPr>
          <a:xfrm>
            <a:off x="777240" y="3502152"/>
            <a:ext cx="219456" cy="219456"/>
          </a:xfrm>
          <a:prstGeom prst="rect">
            <a:avLst/>
          </a:prstGeom>
        </p:spPr>
      </p:pic>
      <p:sp>
        <p:nvSpPr>
          <p:cNvPr id="22" name="Text 16"/>
          <p:cNvSpPr/>
          <p:nvPr/>
        </p:nvSpPr>
        <p:spPr>
          <a:xfrm>
            <a:off x="1234440" y="343814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JavaScript Murni</a:t>
            </a:r>
            <a:endParaRPr lang="en-US" sz="1400" dirty="0"/>
          </a:p>
        </p:txBody>
      </p:sp>
      <p:sp>
        <p:nvSpPr>
          <p:cNvPr id="23" name="Text 17"/>
          <p:cNvSpPr/>
          <p:nvPr/>
        </p:nvSpPr>
        <p:spPr>
          <a:xfrm>
            <a:off x="658368" y="395020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Fetch API, debounce, dan event kursor — tanpa jQuery atau framework.</a:t>
            </a:r>
            <a:endParaRPr lang="en-US" sz="1050" dirty="0"/>
          </a:p>
        </p:txBody>
      </p:sp>
      <p:sp>
        <p:nvSpPr>
          <p:cNvPr id="24" name="Shape 18"/>
          <p:cNvSpPr/>
          <p:nvPr/>
        </p:nvSpPr>
        <p:spPr>
          <a:xfrm>
            <a:off x="3259836" y="320040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5" name="Shape 19"/>
          <p:cNvSpPr/>
          <p:nvPr/>
        </p:nvSpPr>
        <p:spPr>
          <a:xfrm>
            <a:off x="3461004" y="3383280"/>
            <a:ext cx="457200" cy="457200"/>
          </a:xfrm>
          <a:prstGeom prst="ellipse">
            <a:avLst/>
          </a:prstGeom>
          <a:solidFill>
            <a:srgbClr val="1B3A57"/>
          </a:solidFill>
          <a:ln/>
        </p:spPr>
      </p:sp>
      <p:pic>
        <p:nvPicPr>
          <p:cNvPr id="26" name="Image 4" descr="preencoded.png">    </p:cNvPr>
          <p:cNvPicPr>
            <a:picLocks noChangeAspect="1"/>
          </p:cNvPicPr>
          <p:nvPr/>
        </p:nvPicPr>
        <p:blipFill>
          <a:blip r:embed="rId5"/>
          <a:stretch>
            <a:fillRect/>
          </a:stretch>
        </p:blipFill>
        <p:spPr>
          <a:xfrm>
            <a:off x="3579876" y="3502152"/>
            <a:ext cx="219456" cy="219456"/>
          </a:xfrm>
          <a:prstGeom prst="rect">
            <a:avLst/>
          </a:prstGeom>
        </p:spPr>
      </p:pic>
      <p:sp>
        <p:nvSpPr>
          <p:cNvPr id="27" name="Text 20"/>
          <p:cNvSpPr/>
          <p:nvPr/>
        </p:nvSpPr>
        <p:spPr>
          <a:xfrm>
            <a:off x="4037076" y="343814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Session Django</a:t>
            </a:r>
            <a:endParaRPr lang="en-US" sz="1400" dirty="0"/>
          </a:p>
        </p:txBody>
      </p:sp>
      <p:sp>
        <p:nvSpPr>
          <p:cNvPr id="28" name="Text 21"/>
          <p:cNvSpPr/>
          <p:nvPr/>
        </p:nvSpPr>
        <p:spPr>
          <a:xfrm>
            <a:off x="3461004" y="395020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Anti-spam like dan penghitung view yang akurat per pengunjung.</a:t>
            </a:r>
            <a:endParaRPr lang="en-US" sz="1050" dirty="0"/>
          </a:p>
        </p:txBody>
      </p:sp>
      <p:sp>
        <p:nvSpPr>
          <p:cNvPr id="29" name="Shape 22"/>
          <p:cNvSpPr/>
          <p:nvPr/>
        </p:nvSpPr>
        <p:spPr>
          <a:xfrm>
            <a:off x="6062472" y="3200400"/>
            <a:ext cx="2679192" cy="1645920"/>
          </a:xfrm>
          <a:prstGeom prst="roundRect">
            <a:avLst>
              <a:gd name="adj" fmla="val 666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30" name="Shape 23"/>
          <p:cNvSpPr/>
          <p:nvPr/>
        </p:nvSpPr>
        <p:spPr>
          <a:xfrm>
            <a:off x="6263640" y="3383280"/>
            <a:ext cx="457200" cy="457200"/>
          </a:xfrm>
          <a:prstGeom prst="ellipse">
            <a:avLst/>
          </a:prstGeom>
          <a:solidFill>
            <a:srgbClr val="1B3A57"/>
          </a:solidFill>
          <a:ln/>
        </p:spPr>
      </p:sp>
      <p:pic>
        <p:nvPicPr>
          <p:cNvPr id="31" name="Image 5" descr="preencoded.png">    </p:cNvPr>
          <p:cNvPicPr>
            <a:picLocks noChangeAspect="1"/>
          </p:cNvPicPr>
          <p:nvPr/>
        </p:nvPicPr>
        <p:blipFill>
          <a:blip r:embed="rId6"/>
          <a:stretch>
            <a:fillRect/>
          </a:stretch>
        </p:blipFill>
        <p:spPr>
          <a:xfrm>
            <a:off x="6382512" y="3502152"/>
            <a:ext cx="219456" cy="219456"/>
          </a:xfrm>
          <a:prstGeom prst="rect">
            <a:avLst/>
          </a:prstGeom>
        </p:spPr>
      </p:pic>
      <p:sp>
        <p:nvSpPr>
          <p:cNvPr id="32" name="Text 24"/>
          <p:cNvSpPr/>
          <p:nvPr/>
        </p:nvSpPr>
        <p:spPr>
          <a:xfrm>
            <a:off x="6839712" y="3438144"/>
            <a:ext cx="1764792" cy="365760"/>
          </a:xfrm>
          <a:prstGeom prst="rect">
            <a:avLst/>
          </a:prstGeom>
          <a:noFill/>
          <a:ln/>
        </p:spPr>
        <p:txBody>
          <a:bodyPr wrap="square" lIns="0" tIns="0" rIns="0" bIns="0" rtlCol="0" anchor="ctr"/>
          <a:lstStyle/>
          <a:p>
            <a:pPr indent="0" marL="0">
              <a:buNone/>
            </a:pPr>
            <a:r>
              <a:rPr lang="en-US" sz="1400" b="1" dirty="0">
                <a:solidFill>
                  <a:srgbClr val="E8F2FB"/>
                </a:solidFill>
                <a:latin typeface="Arial" pitchFamily="34" charset="0"/>
                <a:ea typeface="Arial" pitchFamily="34" charset="-122"/>
                <a:cs typeface="Arial" pitchFamily="34" charset="-120"/>
              </a:rPr>
              <a:t>Google Fonts</a:t>
            </a:r>
            <a:endParaRPr lang="en-US" sz="1400" dirty="0"/>
          </a:p>
        </p:txBody>
      </p:sp>
      <p:sp>
        <p:nvSpPr>
          <p:cNvPr id="33" name="Text 25"/>
          <p:cNvSpPr/>
          <p:nvPr/>
        </p:nvSpPr>
        <p:spPr>
          <a:xfrm>
            <a:off x="6263640" y="3950208"/>
            <a:ext cx="2276856" cy="804672"/>
          </a:xfrm>
          <a:prstGeom prst="rect">
            <a:avLst/>
          </a:prstGeom>
          <a:noFill/>
          <a:ln/>
        </p:spPr>
        <p:txBody>
          <a:bodyPr wrap="square" lIns="0" tIns="0" rIns="0" bIns="0" rtlCol="0" anchor="ctr"/>
          <a:lstStyle/>
          <a:p>
            <a:pPr indent="0" marL="0">
              <a:lnSpc>
                <a:spcPct val="112000"/>
              </a:lnSpc>
              <a:buNone/>
            </a:pPr>
            <a:r>
              <a:rPr lang="en-US" sz="1050" dirty="0">
                <a:solidFill>
                  <a:srgbClr val="9FB8CE"/>
                </a:solidFill>
                <a:latin typeface="Arial" pitchFamily="34" charset="0"/>
                <a:ea typeface="Arial" pitchFamily="34" charset="-122"/>
                <a:cs typeface="Arial" pitchFamily="34" charset="-120"/>
              </a:rPr>
              <a:t>Space Grotesk untuk judul dan Inter untuk isi — kesan modern.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03 — ARSITEKTUR</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Alur Kerja: Pola MVT Django</a:t>
            </a:r>
            <a:endParaRPr lang="en-US" sz="3000" dirty="0"/>
          </a:p>
        </p:txBody>
      </p:sp>
      <p:sp>
        <p:nvSpPr>
          <p:cNvPr id="4" name="Shape 2"/>
          <p:cNvSpPr/>
          <p:nvPr/>
        </p:nvSpPr>
        <p:spPr>
          <a:xfrm>
            <a:off x="457200" y="1371600"/>
            <a:ext cx="1417320" cy="777240"/>
          </a:xfrm>
          <a:prstGeom prst="roundRect">
            <a:avLst>
              <a:gd name="adj" fmla="val 1176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457200" y="1371600"/>
            <a:ext cx="1417320" cy="777240"/>
          </a:xfrm>
          <a:prstGeom prst="rect">
            <a:avLst/>
          </a:prstGeom>
          <a:noFill/>
          <a:ln/>
        </p:spPr>
        <p:txBody>
          <a:bodyPr wrap="square" lIns="0" tIns="0" rIns="0" bIns="0" rtlCol="0" anchor="ctr"/>
          <a:lstStyle/>
          <a:p>
            <a:pPr algn="ctr" indent="0" marL="0">
              <a:buNone/>
            </a:pPr>
            <a:r>
              <a:rPr lang="en-US" sz="1300" b="1" dirty="0">
                <a:solidFill>
                  <a:srgbClr val="E8F2FB"/>
                </a:solidFill>
                <a:latin typeface="Arial" pitchFamily="34" charset="0"/>
                <a:ea typeface="Arial" pitchFamily="34" charset="-122"/>
                <a:cs typeface="Arial" pitchFamily="34" charset="-120"/>
              </a:rPr>
              <a:t>Browser</a:t>
            </a:r>
            <a:endParaRPr lang="en-US" sz="1300" dirty="0"/>
          </a:p>
        </p:txBody>
      </p:sp>
      <p:sp>
        <p:nvSpPr>
          <p:cNvPr id="6" name="Text 4"/>
          <p:cNvSpPr/>
          <p:nvPr/>
        </p:nvSpPr>
        <p:spPr>
          <a:xfrm>
            <a:off x="1856232" y="1371600"/>
            <a:ext cx="365760" cy="777240"/>
          </a:xfrm>
          <a:prstGeom prst="rect">
            <a:avLst/>
          </a:prstGeom>
          <a:noFill/>
          <a:ln/>
        </p:spPr>
        <p:txBody>
          <a:bodyPr wrap="square" lIns="0" tIns="0" rIns="0" bIns="0" rtlCol="0" anchor="ctr"/>
          <a:lstStyle/>
          <a:p>
            <a:pPr algn="ctr" indent="0" marL="0">
              <a:buNone/>
            </a:pPr>
            <a:r>
              <a:rPr lang="en-US" sz="1600" b="1" dirty="0">
                <a:solidFill>
                  <a:srgbClr val="5CC8FF"/>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2203704" y="1371600"/>
            <a:ext cx="1417320" cy="777240"/>
          </a:xfrm>
          <a:prstGeom prst="roundRect">
            <a:avLst>
              <a:gd name="adj" fmla="val 1176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2203704" y="1371600"/>
            <a:ext cx="1417320" cy="777240"/>
          </a:xfrm>
          <a:prstGeom prst="rect">
            <a:avLst/>
          </a:prstGeom>
          <a:noFill/>
          <a:ln/>
        </p:spPr>
        <p:txBody>
          <a:bodyPr wrap="square" lIns="0" tIns="0" rIns="0" bIns="0" rtlCol="0" anchor="ctr"/>
          <a:lstStyle/>
          <a:p>
            <a:pPr algn="ctr" indent="0" marL="0">
              <a:buNone/>
            </a:pPr>
            <a:r>
              <a:rPr lang="en-US" sz="1300" b="1" dirty="0">
                <a:solidFill>
                  <a:srgbClr val="E8F2FB"/>
                </a:solidFill>
                <a:latin typeface="Arial" pitchFamily="34" charset="0"/>
                <a:ea typeface="Arial" pitchFamily="34" charset="-122"/>
                <a:cs typeface="Arial" pitchFamily="34" charset="-120"/>
              </a:rPr>
              <a:t>urls.py</a:t>
            </a:r>
            <a:endParaRPr lang="en-US" sz="1300" dirty="0"/>
          </a:p>
        </p:txBody>
      </p:sp>
      <p:sp>
        <p:nvSpPr>
          <p:cNvPr id="9" name="Text 7"/>
          <p:cNvSpPr/>
          <p:nvPr/>
        </p:nvSpPr>
        <p:spPr>
          <a:xfrm>
            <a:off x="3602736" y="1371600"/>
            <a:ext cx="365760" cy="777240"/>
          </a:xfrm>
          <a:prstGeom prst="rect">
            <a:avLst/>
          </a:prstGeom>
          <a:noFill/>
          <a:ln/>
        </p:spPr>
        <p:txBody>
          <a:bodyPr wrap="square" lIns="0" tIns="0" rIns="0" bIns="0" rtlCol="0" anchor="ctr"/>
          <a:lstStyle/>
          <a:p>
            <a:pPr algn="ctr" indent="0" marL="0">
              <a:buNone/>
            </a:pPr>
            <a:r>
              <a:rPr lang="en-US" sz="1600" b="1" dirty="0">
                <a:solidFill>
                  <a:srgbClr val="5CC8FF"/>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3950208" y="1371600"/>
            <a:ext cx="1417320" cy="777240"/>
          </a:xfrm>
          <a:prstGeom prst="roundRect">
            <a:avLst>
              <a:gd name="adj" fmla="val 1176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3950208" y="1371600"/>
            <a:ext cx="1417320" cy="777240"/>
          </a:xfrm>
          <a:prstGeom prst="rect">
            <a:avLst/>
          </a:prstGeom>
          <a:noFill/>
          <a:ln/>
        </p:spPr>
        <p:txBody>
          <a:bodyPr wrap="square" lIns="0" tIns="0" rIns="0" bIns="0" rtlCol="0" anchor="ctr"/>
          <a:lstStyle/>
          <a:p>
            <a:pPr algn="ctr" indent="0" marL="0">
              <a:buNone/>
            </a:pPr>
            <a:r>
              <a:rPr lang="en-US" sz="1300" b="1" dirty="0">
                <a:solidFill>
                  <a:srgbClr val="E8F2FB"/>
                </a:solidFill>
                <a:latin typeface="Arial" pitchFamily="34" charset="0"/>
                <a:ea typeface="Arial" pitchFamily="34" charset="-122"/>
                <a:cs typeface="Arial" pitchFamily="34" charset="-120"/>
              </a:rPr>
              <a:t>views.py</a:t>
            </a:r>
            <a:endParaRPr lang="en-US" sz="1300" dirty="0"/>
          </a:p>
        </p:txBody>
      </p:sp>
      <p:sp>
        <p:nvSpPr>
          <p:cNvPr id="12" name="Text 10"/>
          <p:cNvSpPr/>
          <p:nvPr/>
        </p:nvSpPr>
        <p:spPr>
          <a:xfrm>
            <a:off x="5349240" y="1371600"/>
            <a:ext cx="365760" cy="777240"/>
          </a:xfrm>
          <a:prstGeom prst="rect">
            <a:avLst/>
          </a:prstGeom>
          <a:noFill/>
          <a:ln/>
        </p:spPr>
        <p:txBody>
          <a:bodyPr wrap="square" lIns="0" tIns="0" rIns="0" bIns="0" rtlCol="0" anchor="ctr"/>
          <a:lstStyle/>
          <a:p>
            <a:pPr algn="ctr" indent="0" marL="0">
              <a:buNone/>
            </a:pPr>
            <a:r>
              <a:rPr lang="en-US" sz="1600" b="1" dirty="0">
                <a:solidFill>
                  <a:srgbClr val="5CC8FF"/>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5696712" y="1371600"/>
            <a:ext cx="1417320" cy="777240"/>
          </a:xfrm>
          <a:prstGeom prst="roundRect">
            <a:avLst>
              <a:gd name="adj" fmla="val 11765"/>
            </a:avLst>
          </a:prstGeom>
          <a:solidFill>
            <a:srgbClr val="1B3A57"/>
          </a:solidFill>
          <a:ln w="12700">
            <a:solidFill>
              <a:srgbClr val="5CC8FF"/>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5696712" y="1371600"/>
            <a:ext cx="1417320" cy="777240"/>
          </a:xfrm>
          <a:prstGeom prst="rect">
            <a:avLst/>
          </a:prstGeom>
          <a:noFill/>
          <a:ln/>
        </p:spPr>
        <p:txBody>
          <a:bodyPr wrap="square" lIns="0" tIns="0" rIns="0" bIns="0" rtlCol="0" anchor="ctr"/>
          <a:lstStyle/>
          <a:p>
            <a:pPr algn="ctr" indent="0" marL="0">
              <a:buNone/>
            </a:pPr>
            <a:r>
              <a:rPr lang="en-US" sz="1300" b="1" dirty="0">
                <a:solidFill>
                  <a:srgbClr val="5CC8FF"/>
                </a:solidFill>
                <a:latin typeface="Arial" pitchFamily="34" charset="0"/>
                <a:ea typeface="Arial" pitchFamily="34" charset="-122"/>
                <a:cs typeface="Arial" pitchFamily="34" charset="-120"/>
              </a:rPr>
              <a:t>Model Post</a:t>
            </a:r>
            <a:endParaRPr lang="en-US" sz="1300" dirty="0"/>
          </a:p>
        </p:txBody>
      </p:sp>
      <p:sp>
        <p:nvSpPr>
          <p:cNvPr id="15" name="Text 13"/>
          <p:cNvSpPr/>
          <p:nvPr/>
        </p:nvSpPr>
        <p:spPr>
          <a:xfrm>
            <a:off x="7095744" y="1371600"/>
            <a:ext cx="365760" cy="777240"/>
          </a:xfrm>
          <a:prstGeom prst="rect">
            <a:avLst/>
          </a:prstGeom>
          <a:noFill/>
          <a:ln/>
        </p:spPr>
        <p:txBody>
          <a:bodyPr wrap="square" lIns="0" tIns="0" rIns="0" bIns="0" rtlCol="0" anchor="ctr"/>
          <a:lstStyle/>
          <a:p>
            <a:pPr algn="ctr" indent="0" marL="0">
              <a:buNone/>
            </a:pPr>
            <a:r>
              <a:rPr lang="en-US" sz="1600" b="1" dirty="0">
                <a:solidFill>
                  <a:srgbClr val="5CC8FF"/>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7443216" y="1371600"/>
            <a:ext cx="1417320" cy="777240"/>
          </a:xfrm>
          <a:prstGeom prst="roundRect">
            <a:avLst>
              <a:gd name="adj" fmla="val 11765"/>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7443216" y="1371600"/>
            <a:ext cx="1417320" cy="777240"/>
          </a:xfrm>
          <a:prstGeom prst="rect">
            <a:avLst/>
          </a:prstGeom>
          <a:noFill/>
          <a:ln/>
        </p:spPr>
        <p:txBody>
          <a:bodyPr wrap="square" lIns="0" tIns="0" rIns="0" bIns="0" rtlCol="0" anchor="ctr"/>
          <a:lstStyle/>
          <a:p>
            <a:pPr algn="ctr" indent="0" marL="0">
              <a:buNone/>
            </a:pPr>
            <a:r>
              <a:rPr lang="en-US" sz="1300" b="1" dirty="0">
                <a:solidFill>
                  <a:srgbClr val="E8F2FB"/>
                </a:solidFill>
                <a:latin typeface="Arial" pitchFamily="34" charset="0"/>
                <a:ea typeface="Arial" pitchFamily="34" charset="-122"/>
                <a:cs typeface="Arial" pitchFamily="34" charset="-120"/>
              </a:rPr>
              <a:t>Template</a:t>
            </a:r>
            <a:endParaRPr lang="en-US" sz="1300" dirty="0"/>
          </a:p>
        </p:txBody>
      </p:sp>
      <p:sp>
        <p:nvSpPr>
          <p:cNvPr id="18" name="Text 16"/>
          <p:cNvSpPr/>
          <p:nvPr/>
        </p:nvSpPr>
        <p:spPr>
          <a:xfrm>
            <a:off x="457200" y="2286000"/>
            <a:ext cx="8229600" cy="320040"/>
          </a:xfrm>
          <a:prstGeom prst="rect">
            <a:avLst/>
          </a:prstGeom>
          <a:noFill/>
          <a:ln/>
        </p:spPr>
        <p:txBody>
          <a:bodyPr wrap="square" lIns="0" tIns="0" rIns="0" bIns="0" rtlCol="0" anchor="ctr"/>
          <a:lstStyle/>
          <a:p>
            <a:pPr indent="0" marL="0">
              <a:buNone/>
            </a:pPr>
            <a:r>
              <a:rPr lang="en-US" sz="1150" i="1" dirty="0">
                <a:solidFill>
                  <a:srgbClr val="9FB8CE"/>
                </a:solidFill>
                <a:latin typeface="Arial" pitchFamily="34" charset="0"/>
                <a:ea typeface="Arial" pitchFamily="34" charset="-122"/>
                <a:cs typeface="Arial" pitchFamily="34" charset="-120"/>
              </a:rPr>
              <a:t>Request dari browser dicocokkan di urls.py, diproses views.py, data diambil dari Model, lalu dirender Template.</a:t>
            </a:r>
            <a:endParaRPr lang="en-US" sz="1150" dirty="0"/>
          </a:p>
        </p:txBody>
      </p:sp>
      <p:sp>
        <p:nvSpPr>
          <p:cNvPr id="19" name="Shape 17"/>
          <p:cNvSpPr/>
          <p:nvPr/>
        </p:nvSpPr>
        <p:spPr>
          <a:xfrm>
            <a:off x="457200" y="2788920"/>
            <a:ext cx="3977640" cy="1965960"/>
          </a:xfrm>
          <a:prstGeom prst="roundRect">
            <a:avLst>
              <a:gd name="adj" fmla="val 5581"/>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0" name="Text 18"/>
          <p:cNvSpPr/>
          <p:nvPr/>
        </p:nvSpPr>
        <p:spPr>
          <a:xfrm>
            <a:off x="685800" y="2944368"/>
            <a:ext cx="3566160" cy="292608"/>
          </a:xfrm>
          <a:prstGeom prst="rect">
            <a:avLst/>
          </a:prstGeom>
          <a:noFill/>
          <a:ln/>
        </p:spPr>
        <p:txBody>
          <a:bodyPr wrap="square" lIns="0" tIns="0" rIns="0" bIns="0" rtlCol="0" anchor="ctr"/>
          <a:lstStyle/>
          <a:p>
            <a:pPr indent="0" marL="0">
              <a:buNone/>
            </a:pPr>
            <a:r>
              <a:rPr lang="en-US" sz="1400" b="1" dirty="0">
                <a:solidFill>
                  <a:srgbClr val="5CC8FF"/>
                </a:solidFill>
                <a:latin typeface="Arial" pitchFamily="34" charset="0"/>
                <a:ea typeface="Arial" pitchFamily="34" charset="-122"/>
                <a:cs typeface="Arial" pitchFamily="34" charset="-120"/>
              </a:rPr>
              <a:t>Model Post</a:t>
            </a:r>
            <a:endParaRPr lang="en-US" sz="1400" dirty="0"/>
          </a:p>
        </p:txBody>
      </p:sp>
      <p:sp>
        <p:nvSpPr>
          <p:cNvPr id="21" name="Text 19"/>
          <p:cNvSpPr/>
          <p:nvPr/>
        </p:nvSpPr>
        <p:spPr>
          <a:xfrm>
            <a:off x="685800" y="3273552"/>
            <a:ext cx="356616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title, slug (otomatis dari judul)</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content &amp; excerpt</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views &amp; likes (angka interaksi)</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created_at &amp; updated_at</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reading_time (dihitung otomatis)</a:t>
            </a:r>
            <a:endParaRPr lang="en-US" sz="1100" dirty="0"/>
          </a:p>
        </p:txBody>
      </p:sp>
      <p:sp>
        <p:nvSpPr>
          <p:cNvPr id="22" name="Shape 20"/>
          <p:cNvSpPr/>
          <p:nvPr/>
        </p:nvSpPr>
        <p:spPr>
          <a:xfrm>
            <a:off x="4709160" y="2788920"/>
            <a:ext cx="3977640" cy="1965960"/>
          </a:xfrm>
          <a:prstGeom prst="roundRect">
            <a:avLst>
              <a:gd name="adj" fmla="val 5581"/>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3" name="Text 21"/>
          <p:cNvSpPr/>
          <p:nvPr/>
        </p:nvSpPr>
        <p:spPr>
          <a:xfrm>
            <a:off x="4937760" y="2944368"/>
            <a:ext cx="3566160" cy="292608"/>
          </a:xfrm>
          <a:prstGeom prst="rect">
            <a:avLst/>
          </a:prstGeom>
          <a:noFill/>
          <a:ln/>
        </p:spPr>
        <p:txBody>
          <a:bodyPr wrap="square" lIns="0" tIns="0" rIns="0" bIns="0" rtlCol="0" anchor="ctr"/>
          <a:lstStyle/>
          <a:p>
            <a:pPr indent="0" marL="0">
              <a:buNone/>
            </a:pPr>
            <a:r>
              <a:rPr lang="en-US" sz="1400" b="1" dirty="0">
                <a:solidFill>
                  <a:srgbClr val="5CC8FF"/>
                </a:solidFill>
                <a:latin typeface="Arial" pitchFamily="34" charset="0"/>
                <a:ea typeface="Arial" pitchFamily="34" charset="-122"/>
                <a:cs typeface="Arial" pitchFamily="34" charset="-120"/>
              </a:rPr>
              <a:t>4 Halaman / Endpoint</a:t>
            </a:r>
            <a:endParaRPr lang="en-US" sz="1400" dirty="0"/>
          </a:p>
        </p:txBody>
      </p:sp>
      <p:sp>
        <p:nvSpPr>
          <p:cNvPr id="24" name="Text 22"/>
          <p:cNvSpPr/>
          <p:nvPr/>
        </p:nvSpPr>
        <p:spPr>
          <a:xfrm>
            <a:off x="4937760" y="3273552"/>
            <a:ext cx="356616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  — daftar artikel + pencarian</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/post/&lt;slug&gt;/  — detail artikel</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/post/&lt;slug&gt;/like/  — like (JSON)</a:t>
            </a:r>
            <a:endParaRPr lang="en-US" sz="1100" dirty="0"/>
          </a:p>
          <a:p>
            <a:pPr marL="342900" indent="-342900">
              <a:spcAft>
                <a:spcPts val="400"/>
              </a:spcAft>
              <a:buSzPct val="100000"/>
              <a:buChar char="•"/>
            </a:pPr>
            <a:r>
              <a:rPr lang="en-US" sz="1100" dirty="0">
                <a:solidFill>
                  <a:srgbClr val="9FB8CE"/>
                </a:solidFill>
                <a:latin typeface="Arial" pitchFamily="34" charset="0"/>
                <a:ea typeface="Arial" pitchFamily="34" charset="-122"/>
                <a:cs typeface="Arial" pitchFamily="34" charset="-120"/>
              </a:rPr>
              <a:t>/api/search/  — live search (JSON)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04 — TAMPILAN</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Empat Elemen Semi-3D</a:t>
            </a:r>
            <a:endParaRPr lang="en-US" sz="3000" dirty="0"/>
          </a:p>
        </p:txBody>
      </p:sp>
      <p:sp>
        <p:nvSpPr>
          <p:cNvPr id="4" name="Shape 2"/>
          <p:cNvSpPr/>
          <p:nvPr/>
        </p:nvSpPr>
        <p:spPr>
          <a:xfrm>
            <a:off x="457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13232" y="1536192"/>
            <a:ext cx="548640" cy="548640"/>
          </a:xfrm>
          <a:prstGeom prst="ellipse">
            <a:avLst/>
          </a:prstGeom>
          <a:solidFill>
            <a:srgbClr val="1B3A57"/>
          </a:solidFill>
          <a:ln/>
        </p:spPr>
      </p:sp>
      <p:pic>
        <p:nvPicPr>
          <p:cNvPr id="6" name="Image 0" descr="preencoded.png">    </p:cNvPr>
          <p:cNvPicPr>
            <a:picLocks noChangeAspect="1"/>
          </p:cNvPicPr>
          <p:nvPr/>
        </p:nvPicPr>
        <p:blipFill>
          <a:blip r:embed="rId1"/>
          <a:stretch>
            <a:fillRect/>
          </a:stretch>
        </p:blipFill>
        <p:spPr>
          <a:xfrm>
            <a:off x="855878" y="1678838"/>
            <a:ext cx="263347" cy="263347"/>
          </a:xfrm>
          <a:prstGeom prst="rect">
            <a:avLst/>
          </a:prstGeom>
        </p:spPr>
      </p:pic>
      <p:sp>
        <p:nvSpPr>
          <p:cNvPr id="7" name="Text 4"/>
          <p:cNvSpPr/>
          <p:nvPr/>
        </p:nvSpPr>
        <p:spPr>
          <a:xfrm>
            <a:off x="1417320" y="159105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Kubus Es 3D</a:t>
            </a:r>
            <a:endParaRPr lang="en-US" sz="1600" dirty="0"/>
          </a:p>
        </p:txBody>
      </p:sp>
      <p:sp>
        <p:nvSpPr>
          <p:cNvPr id="8" name="Text 5"/>
          <p:cNvSpPr/>
          <p:nvPr/>
        </p:nvSpPr>
        <p:spPr>
          <a:xfrm>
            <a:off x="713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Dibangun dengan CSS preserve-3d, berputar mengikuti arah kursor di halaman utama.</a:t>
            </a:r>
            <a:endParaRPr lang="en-US" sz="1150" dirty="0"/>
          </a:p>
        </p:txBody>
      </p:sp>
      <p:sp>
        <p:nvSpPr>
          <p:cNvPr id="9" name="Shape 6"/>
          <p:cNvSpPr/>
          <p:nvPr/>
        </p:nvSpPr>
        <p:spPr>
          <a:xfrm>
            <a:off x="5029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5285232" y="1536192"/>
            <a:ext cx="548640" cy="548640"/>
          </a:xfrm>
          <a:prstGeom prst="ellipse">
            <a:avLst/>
          </a:prstGeom>
          <a:solidFill>
            <a:srgbClr val="1B3A57"/>
          </a:solidFill>
          <a:ln/>
        </p:spPr>
      </p:sp>
      <p:pic>
        <p:nvPicPr>
          <p:cNvPr id="11" name="Image 1" descr="preencoded.png">    </p:cNvPr>
          <p:cNvPicPr>
            <a:picLocks noChangeAspect="1"/>
          </p:cNvPicPr>
          <p:nvPr/>
        </p:nvPicPr>
        <p:blipFill>
          <a:blip r:embed="rId2"/>
          <a:stretch>
            <a:fillRect/>
          </a:stretch>
        </p:blipFill>
        <p:spPr>
          <a:xfrm>
            <a:off x="5427878" y="1678838"/>
            <a:ext cx="263347" cy="263347"/>
          </a:xfrm>
          <a:prstGeom prst="rect">
            <a:avLst/>
          </a:prstGeom>
        </p:spPr>
      </p:pic>
      <p:sp>
        <p:nvSpPr>
          <p:cNvPr id="12" name="Text 8"/>
          <p:cNvSpPr/>
          <p:nvPr/>
        </p:nvSpPr>
        <p:spPr>
          <a:xfrm>
            <a:off x="5989320" y="159105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Kartu Tilt</a:t>
            </a:r>
            <a:endParaRPr lang="en-US" sz="1600" dirty="0"/>
          </a:p>
        </p:txBody>
      </p:sp>
      <p:sp>
        <p:nvSpPr>
          <p:cNvPr id="13" name="Text 9"/>
          <p:cNvSpPr/>
          <p:nvPr/>
        </p:nvSpPr>
        <p:spPr>
          <a:xfrm>
            <a:off x="5285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Kartu artikel miring ke arah kursor; isinya berlapis kedalaman dengan translateZ.</a:t>
            </a:r>
            <a:endParaRPr lang="en-US" sz="1150" dirty="0"/>
          </a:p>
        </p:txBody>
      </p:sp>
      <p:sp>
        <p:nvSpPr>
          <p:cNvPr id="14" name="Shape 10"/>
          <p:cNvSpPr/>
          <p:nvPr/>
        </p:nvSpPr>
        <p:spPr>
          <a:xfrm>
            <a:off x="457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713232" y="3502152"/>
            <a:ext cx="548640" cy="548640"/>
          </a:xfrm>
          <a:prstGeom prst="ellipse">
            <a:avLst/>
          </a:prstGeom>
          <a:solidFill>
            <a:srgbClr val="1B3A57"/>
          </a:solidFill>
          <a:ln/>
        </p:spPr>
      </p:sp>
      <p:pic>
        <p:nvPicPr>
          <p:cNvPr id="16" name="Image 2" descr="preencoded.png">    </p:cNvPr>
          <p:cNvPicPr>
            <a:picLocks noChangeAspect="1"/>
          </p:cNvPicPr>
          <p:nvPr/>
        </p:nvPicPr>
        <p:blipFill>
          <a:blip r:embed="rId3"/>
          <a:stretch>
            <a:fillRect/>
          </a:stretch>
        </p:blipFill>
        <p:spPr>
          <a:xfrm>
            <a:off x="855878" y="3644798"/>
            <a:ext cx="263347" cy="263347"/>
          </a:xfrm>
          <a:prstGeom prst="rect">
            <a:avLst/>
          </a:prstGeom>
        </p:spPr>
      </p:pic>
      <p:sp>
        <p:nvSpPr>
          <p:cNvPr id="17" name="Text 12"/>
          <p:cNvSpPr/>
          <p:nvPr/>
        </p:nvSpPr>
        <p:spPr>
          <a:xfrm>
            <a:off x="1417320" y="355701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Parallax Multi-Lapis</a:t>
            </a:r>
            <a:endParaRPr lang="en-US" sz="1600" dirty="0"/>
          </a:p>
        </p:txBody>
      </p:sp>
      <p:sp>
        <p:nvSpPr>
          <p:cNvPr id="18" name="Text 13"/>
          <p:cNvSpPr/>
          <p:nvPr/>
        </p:nvSpPr>
        <p:spPr>
          <a:xfrm>
            <a:off x="713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Grid perspektif, pecahan es melayang, dan glow yang bergeser berlawanan arah kursor.</a:t>
            </a:r>
            <a:endParaRPr lang="en-US" sz="1150" dirty="0"/>
          </a:p>
        </p:txBody>
      </p:sp>
      <p:sp>
        <p:nvSpPr>
          <p:cNvPr id="19" name="Shape 14"/>
          <p:cNvSpPr/>
          <p:nvPr/>
        </p:nvSpPr>
        <p:spPr>
          <a:xfrm>
            <a:off x="5029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5285232" y="3502152"/>
            <a:ext cx="548640" cy="548640"/>
          </a:xfrm>
          <a:prstGeom prst="ellipse">
            <a:avLst/>
          </a:prstGeom>
          <a:solidFill>
            <a:srgbClr val="1B3A57"/>
          </a:solidFill>
          <a:ln/>
        </p:spPr>
      </p:sp>
      <p:pic>
        <p:nvPicPr>
          <p:cNvPr id="21" name="Image 3" descr="preencoded.png">    </p:cNvPr>
          <p:cNvPicPr>
            <a:picLocks noChangeAspect="1"/>
          </p:cNvPicPr>
          <p:nvPr/>
        </p:nvPicPr>
        <p:blipFill>
          <a:blip r:embed="rId4"/>
          <a:stretch>
            <a:fillRect/>
          </a:stretch>
        </p:blipFill>
        <p:spPr>
          <a:xfrm>
            <a:off x="5427878" y="3644798"/>
            <a:ext cx="263347" cy="263347"/>
          </a:xfrm>
          <a:prstGeom prst="rect">
            <a:avLst/>
          </a:prstGeom>
        </p:spPr>
      </p:pic>
      <p:sp>
        <p:nvSpPr>
          <p:cNvPr id="22" name="Text 16"/>
          <p:cNvSpPr/>
          <p:nvPr/>
        </p:nvSpPr>
        <p:spPr>
          <a:xfrm>
            <a:off x="5989320" y="355701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Tema Es Gelap</a:t>
            </a:r>
            <a:endParaRPr lang="en-US" sz="1600" dirty="0"/>
          </a:p>
        </p:txBody>
      </p:sp>
      <p:sp>
        <p:nvSpPr>
          <p:cNvPr id="23" name="Text 17"/>
          <p:cNvSpPr/>
          <p:nvPr/>
        </p:nvSpPr>
        <p:spPr>
          <a:xfrm>
            <a:off x="5285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Glassmorphism, gradien biru es, dan tekstur grain halus di seluruh halaman.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05 — FITUR INOVATIF</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Interaksi Tanpa Reload (AJAX)</a:t>
            </a:r>
            <a:endParaRPr lang="en-US" sz="3000" dirty="0"/>
          </a:p>
        </p:txBody>
      </p:sp>
      <p:sp>
        <p:nvSpPr>
          <p:cNvPr id="4" name="Shape 2"/>
          <p:cNvSpPr/>
          <p:nvPr/>
        </p:nvSpPr>
        <p:spPr>
          <a:xfrm>
            <a:off x="457200" y="1280160"/>
            <a:ext cx="4114800" cy="3520440"/>
          </a:xfrm>
          <a:prstGeom prst="roundRect">
            <a:avLst>
              <a:gd name="adj" fmla="val 311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31520" y="1572768"/>
            <a:ext cx="640080" cy="640080"/>
          </a:xfrm>
          <a:prstGeom prst="ellipse">
            <a:avLst/>
          </a:prstGeom>
          <a:solidFill>
            <a:srgbClr val="1B3A57"/>
          </a:solidFill>
          <a:ln/>
        </p:spPr>
      </p:sp>
      <p:pic>
        <p:nvPicPr>
          <p:cNvPr id="6" name="Image 0" descr="preencoded.png">    </p:cNvPr>
          <p:cNvPicPr>
            <a:picLocks noChangeAspect="1"/>
          </p:cNvPicPr>
          <p:nvPr/>
        </p:nvPicPr>
        <p:blipFill>
          <a:blip r:embed="rId1"/>
          <a:stretch>
            <a:fillRect/>
          </a:stretch>
        </p:blipFill>
        <p:spPr>
          <a:xfrm>
            <a:off x="897941" y="1739189"/>
            <a:ext cx="307238" cy="307238"/>
          </a:xfrm>
          <a:prstGeom prst="rect">
            <a:avLst/>
          </a:prstGeom>
        </p:spPr>
      </p:pic>
      <p:sp>
        <p:nvSpPr>
          <p:cNvPr id="7" name="Text 4"/>
          <p:cNvSpPr/>
          <p:nvPr/>
        </p:nvSpPr>
        <p:spPr>
          <a:xfrm>
            <a:off x="1554480" y="1664208"/>
            <a:ext cx="2834640" cy="457200"/>
          </a:xfrm>
          <a:prstGeom prst="rect">
            <a:avLst/>
          </a:prstGeom>
          <a:noFill/>
          <a:ln/>
        </p:spPr>
        <p:txBody>
          <a:bodyPr wrap="square" lIns="0" tIns="0" rIns="0" bIns="0" rtlCol="0" anchor="ctr"/>
          <a:lstStyle/>
          <a:p>
            <a:pPr indent="0" marL="0">
              <a:buNone/>
            </a:pPr>
            <a:r>
              <a:rPr lang="en-US" sz="1800" b="1" dirty="0">
                <a:solidFill>
                  <a:srgbClr val="E8F2FB"/>
                </a:solidFill>
                <a:latin typeface="Arial" pitchFamily="34" charset="0"/>
                <a:ea typeface="Arial" pitchFamily="34" charset="-122"/>
                <a:cs typeface="Arial" pitchFamily="34" charset="-120"/>
              </a:rPr>
              <a:t>Live Search</a:t>
            </a:r>
            <a:endParaRPr lang="en-US" sz="1800" dirty="0"/>
          </a:p>
        </p:txBody>
      </p:sp>
      <p:sp>
        <p:nvSpPr>
          <p:cNvPr id="8" name="Text 5"/>
          <p:cNvSpPr/>
          <p:nvPr/>
        </p:nvSpPr>
        <p:spPr>
          <a:xfrm>
            <a:off x="731520" y="2423160"/>
            <a:ext cx="3566160" cy="21031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Hasil muncul langsung saat mengetik</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Debounce 250 ms — hemat request ke server</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Endpoint JSON: /api/search/</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Mencari di judul DAN isi artikel</a:t>
            </a:r>
            <a:endParaRPr lang="en-US" sz="1200" dirty="0"/>
          </a:p>
        </p:txBody>
      </p:sp>
      <p:sp>
        <p:nvSpPr>
          <p:cNvPr id="9" name="Shape 6"/>
          <p:cNvSpPr/>
          <p:nvPr/>
        </p:nvSpPr>
        <p:spPr>
          <a:xfrm>
            <a:off x="5029200" y="1280160"/>
            <a:ext cx="3657600" cy="3520440"/>
          </a:xfrm>
          <a:prstGeom prst="roundRect">
            <a:avLst>
              <a:gd name="adj" fmla="val 311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5303520" y="1572768"/>
            <a:ext cx="640080" cy="640080"/>
          </a:xfrm>
          <a:prstGeom prst="ellipse">
            <a:avLst/>
          </a:prstGeom>
          <a:solidFill>
            <a:srgbClr val="3A1B2A"/>
          </a:solidFill>
          <a:ln/>
        </p:spPr>
      </p:sp>
      <p:pic>
        <p:nvPicPr>
          <p:cNvPr id="11" name="Image 1" descr="preencoded.png">    </p:cNvPr>
          <p:cNvPicPr>
            <a:picLocks noChangeAspect="1"/>
          </p:cNvPicPr>
          <p:nvPr/>
        </p:nvPicPr>
        <p:blipFill>
          <a:blip r:embed="rId2"/>
          <a:stretch>
            <a:fillRect/>
          </a:stretch>
        </p:blipFill>
        <p:spPr>
          <a:xfrm>
            <a:off x="5468112" y="1737360"/>
            <a:ext cx="310896" cy="310896"/>
          </a:xfrm>
          <a:prstGeom prst="rect">
            <a:avLst/>
          </a:prstGeom>
        </p:spPr>
      </p:pic>
      <p:sp>
        <p:nvSpPr>
          <p:cNvPr id="12" name="Text 8"/>
          <p:cNvSpPr/>
          <p:nvPr/>
        </p:nvSpPr>
        <p:spPr>
          <a:xfrm>
            <a:off x="6126480" y="1664208"/>
            <a:ext cx="2377440" cy="457200"/>
          </a:xfrm>
          <a:prstGeom prst="rect">
            <a:avLst/>
          </a:prstGeom>
          <a:noFill/>
          <a:ln/>
        </p:spPr>
        <p:txBody>
          <a:bodyPr wrap="square" lIns="0" tIns="0" rIns="0" bIns="0" rtlCol="0" anchor="ctr"/>
          <a:lstStyle/>
          <a:p>
            <a:pPr indent="0" marL="0">
              <a:buNone/>
            </a:pPr>
            <a:r>
              <a:rPr lang="en-US" sz="1800" b="1" dirty="0">
                <a:solidFill>
                  <a:srgbClr val="E8F2FB"/>
                </a:solidFill>
                <a:latin typeface="Arial" pitchFamily="34" charset="0"/>
                <a:ea typeface="Arial" pitchFamily="34" charset="-122"/>
                <a:cs typeface="Arial" pitchFamily="34" charset="-120"/>
              </a:rPr>
              <a:t>Like AJAX</a:t>
            </a:r>
            <a:endParaRPr lang="en-US" sz="1800" dirty="0"/>
          </a:p>
        </p:txBody>
      </p:sp>
      <p:sp>
        <p:nvSpPr>
          <p:cNvPr id="13" name="Text 9"/>
          <p:cNvSpPr/>
          <p:nvPr/>
        </p:nvSpPr>
        <p:spPr>
          <a:xfrm>
            <a:off x="5303520" y="2423160"/>
            <a:ext cx="3108960" cy="21031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Klik like — angka berubah seketika</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Bisa unlike (toggle) dengan animasi pop</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Anti-spam: 1 pengunjung = 1 like, dicatat di session</a:t>
            </a:r>
            <a:endParaRPr lang="en-US" sz="1200" dirty="0"/>
          </a:p>
          <a:p>
            <a:pPr marL="342900" indent="-342900">
              <a:spcAft>
                <a:spcPts val="800"/>
              </a:spcAft>
              <a:buSzPct val="100000"/>
              <a:buChar char="•"/>
            </a:pPr>
            <a:r>
              <a:rPr lang="en-US" sz="1200" dirty="0">
                <a:solidFill>
                  <a:srgbClr val="9FB8CE"/>
                </a:solidFill>
                <a:latin typeface="Arial" pitchFamily="34" charset="0"/>
                <a:ea typeface="Arial" pitchFamily="34" charset="-122"/>
                <a:cs typeface="Arial" pitchFamily="34" charset="-120"/>
              </a:rPr>
              <a:t>Aman: POST + token CSRF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06 — FITUR INOVATIF</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Pengalaman Membaca yang Lebih Kaya</a:t>
            </a:r>
            <a:endParaRPr lang="en-US" sz="3000" dirty="0"/>
          </a:p>
        </p:txBody>
      </p:sp>
      <p:sp>
        <p:nvSpPr>
          <p:cNvPr id="4" name="Shape 2"/>
          <p:cNvSpPr/>
          <p:nvPr/>
        </p:nvSpPr>
        <p:spPr>
          <a:xfrm>
            <a:off x="457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13232" y="1536192"/>
            <a:ext cx="548640" cy="548640"/>
          </a:xfrm>
          <a:prstGeom prst="ellipse">
            <a:avLst/>
          </a:prstGeom>
          <a:solidFill>
            <a:srgbClr val="1B3A57"/>
          </a:solidFill>
          <a:ln/>
        </p:spPr>
      </p:sp>
      <p:pic>
        <p:nvPicPr>
          <p:cNvPr id="6" name="Image 0" descr="preencoded.png">    </p:cNvPr>
          <p:cNvPicPr>
            <a:picLocks noChangeAspect="1"/>
          </p:cNvPicPr>
          <p:nvPr/>
        </p:nvPicPr>
        <p:blipFill>
          <a:blip r:embed="rId1"/>
          <a:stretch>
            <a:fillRect/>
          </a:stretch>
        </p:blipFill>
        <p:spPr>
          <a:xfrm>
            <a:off x="855878" y="1678838"/>
            <a:ext cx="263347" cy="263347"/>
          </a:xfrm>
          <a:prstGeom prst="rect">
            <a:avLst/>
          </a:prstGeom>
        </p:spPr>
      </p:pic>
      <p:sp>
        <p:nvSpPr>
          <p:cNvPr id="7" name="Text 4"/>
          <p:cNvSpPr/>
          <p:nvPr/>
        </p:nvSpPr>
        <p:spPr>
          <a:xfrm>
            <a:off x="1417320" y="1591056"/>
            <a:ext cx="2926080" cy="411480"/>
          </a:xfrm>
          <a:prstGeom prst="rect">
            <a:avLst/>
          </a:prstGeom>
          <a:noFill/>
          <a:ln/>
        </p:spPr>
        <p:txBody>
          <a:bodyPr wrap="square" lIns="0" tIns="0" rIns="0" bIns="0" rtlCol="0" anchor="ctr"/>
          <a:lstStyle/>
          <a:p>
            <a:pPr indent="0" marL="0">
              <a:buNone/>
            </a:pPr>
            <a:r>
              <a:rPr lang="en-US" sz="1550" b="1" dirty="0">
                <a:solidFill>
                  <a:srgbClr val="E8F2FB"/>
                </a:solidFill>
                <a:latin typeface="Arial" pitchFamily="34" charset="0"/>
                <a:ea typeface="Arial" pitchFamily="34" charset="-122"/>
                <a:cs typeface="Arial" pitchFamily="34" charset="-120"/>
              </a:rPr>
              <a:t>View Counter Cerdas</a:t>
            </a:r>
            <a:endParaRPr lang="en-US" sz="1550" dirty="0"/>
          </a:p>
        </p:txBody>
      </p:sp>
      <p:sp>
        <p:nvSpPr>
          <p:cNvPr id="8" name="Text 5"/>
          <p:cNvSpPr/>
          <p:nvPr/>
        </p:nvSpPr>
        <p:spPr>
          <a:xfrm>
            <a:off x="713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Jumlah dilihat dicatat sekali per sesi — refresh halaman tidak menambah angka.</a:t>
            </a:r>
            <a:endParaRPr lang="en-US" sz="1150" dirty="0"/>
          </a:p>
        </p:txBody>
      </p:sp>
      <p:sp>
        <p:nvSpPr>
          <p:cNvPr id="9" name="Shape 6"/>
          <p:cNvSpPr/>
          <p:nvPr/>
        </p:nvSpPr>
        <p:spPr>
          <a:xfrm>
            <a:off x="5029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5285232" y="1536192"/>
            <a:ext cx="548640" cy="548640"/>
          </a:xfrm>
          <a:prstGeom prst="ellipse">
            <a:avLst/>
          </a:prstGeom>
          <a:solidFill>
            <a:srgbClr val="1B3A57"/>
          </a:solidFill>
          <a:ln/>
        </p:spPr>
      </p:sp>
      <p:pic>
        <p:nvPicPr>
          <p:cNvPr id="11" name="Image 1" descr="preencoded.png">    </p:cNvPr>
          <p:cNvPicPr>
            <a:picLocks noChangeAspect="1"/>
          </p:cNvPicPr>
          <p:nvPr/>
        </p:nvPicPr>
        <p:blipFill>
          <a:blip r:embed="rId2"/>
          <a:stretch>
            <a:fillRect/>
          </a:stretch>
        </p:blipFill>
        <p:spPr>
          <a:xfrm>
            <a:off x="5427878" y="1678838"/>
            <a:ext cx="263347" cy="263347"/>
          </a:xfrm>
          <a:prstGeom prst="rect">
            <a:avLst/>
          </a:prstGeom>
        </p:spPr>
      </p:pic>
      <p:sp>
        <p:nvSpPr>
          <p:cNvPr id="12" name="Text 8"/>
          <p:cNvSpPr/>
          <p:nvPr/>
        </p:nvSpPr>
        <p:spPr>
          <a:xfrm>
            <a:off x="5989320" y="1591056"/>
            <a:ext cx="2926080" cy="411480"/>
          </a:xfrm>
          <a:prstGeom prst="rect">
            <a:avLst/>
          </a:prstGeom>
          <a:noFill/>
          <a:ln/>
        </p:spPr>
        <p:txBody>
          <a:bodyPr wrap="square" lIns="0" tIns="0" rIns="0" bIns="0" rtlCol="0" anchor="ctr"/>
          <a:lstStyle/>
          <a:p>
            <a:pPr indent="0" marL="0">
              <a:buNone/>
            </a:pPr>
            <a:r>
              <a:rPr lang="en-US" sz="1550" b="1" dirty="0">
                <a:solidFill>
                  <a:srgbClr val="E8F2FB"/>
                </a:solidFill>
                <a:latin typeface="Arial" pitchFamily="34" charset="0"/>
                <a:ea typeface="Arial" pitchFamily="34" charset="-122"/>
                <a:cs typeface="Arial" pitchFamily="34" charset="-120"/>
              </a:rPr>
              <a:t>Estimasi Waktu Baca</a:t>
            </a:r>
            <a:endParaRPr lang="en-US" sz="1550" dirty="0"/>
          </a:p>
        </p:txBody>
      </p:sp>
      <p:sp>
        <p:nvSpPr>
          <p:cNvPr id="13" name="Text 9"/>
          <p:cNvSpPr/>
          <p:nvPr/>
        </p:nvSpPr>
        <p:spPr>
          <a:xfrm>
            <a:off x="5285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Dihitung otomatis dari jumlah kata (200 kata per menit) di setiap artikel.</a:t>
            </a:r>
            <a:endParaRPr lang="en-US" sz="1150" dirty="0"/>
          </a:p>
        </p:txBody>
      </p:sp>
      <p:sp>
        <p:nvSpPr>
          <p:cNvPr id="14" name="Shape 10"/>
          <p:cNvSpPr/>
          <p:nvPr/>
        </p:nvSpPr>
        <p:spPr>
          <a:xfrm>
            <a:off x="457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713232" y="3502152"/>
            <a:ext cx="548640" cy="548640"/>
          </a:xfrm>
          <a:prstGeom prst="ellipse">
            <a:avLst/>
          </a:prstGeom>
          <a:solidFill>
            <a:srgbClr val="1B3A57"/>
          </a:solidFill>
          <a:ln/>
        </p:spPr>
      </p:sp>
      <p:pic>
        <p:nvPicPr>
          <p:cNvPr id="16" name="Image 2" descr="preencoded.png">    </p:cNvPr>
          <p:cNvPicPr>
            <a:picLocks noChangeAspect="1"/>
          </p:cNvPicPr>
          <p:nvPr/>
        </p:nvPicPr>
        <p:blipFill>
          <a:blip r:embed="rId3"/>
          <a:stretch>
            <a:fillRect/>
          </a:stretch>
        </p:blipFill>
        <p:spPr>
          <a:xfrm>
            <a:off x="855878" y="3644798"/>
            <a:ext cx="263347" cy="263347"/>
          </a:xfrm>
          <a:prstGeom prst="rect">
            <a:avLst/>
          </a:prstGeom>
        </p:spPr>
      </p:pic>
      <p:sp>
        <p:nvSpPr>
          <p:cNvPr id="17" name="Text 12"/>
          <p:cNvSpPr/>
          <p:nvPr/>
        </p:nvSpPr>
        <p:spPr>
          <a:xfrm>
            <a:off x="1417320" y="3557016"/>
            <a:ext cx="2926080" cy="411480"/>
          </a:xfrm>
          <a:prstGeom prst="rect">
            <a:avLst/>
          </a:prstGeom>
          <a:noFill/>
          <a:ln/>
        </p:spPr>
        <p:txBody>
          <a:bodyPr wrap="square" lIns="0" tIns="0" rIns="0" bIns="0" rtlCol="0" anchor="ctr"/>
          <a:lstStyle/>
          <a:p>
            <a:pPr indent="0" marL="0">
              <a:buNone/>
            </a:pPr>
            <a:r>
              <a:rPr lang="en-US" sz="1550" b="1" dirty="0">
                <a:solidFill>
                  <a:srgbClr val="E8F2FB"/>
                </a:solidFill>
                <a:latin typeface="Arial" pitchFamily="34" charset="0"/>
                <a:ea typeface="Arial" pitchFamily="34" charset="-122"/>
                <a:cs typeface="Arial" pitchFamily="34" charset="-120"/>
              </a:rPr>
              <a:t>Progress Bar Membaca</a:t>
            </a:r>
            <a:endParaRPr lang="en-US" sz="1550" dirty="0"/>
          </a:p>
        </p:txBody>
      </p:sp>
      <p:sp>
        <p:nvSpPr>
          <p:cNvPr id="18" name="Text 13"/>
          <p:cNvSpPr/>
          <p:nvPr/>
        </p:nvSpPr>
        <p:spPr>
          <a:xfrm>
            <a:off x="713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Garis biru di atas halaman terisi seiring scroll — penanda posisi baca.</a:t>
            </a:r>
            <a:endParaRPr lang="en-US" sz="1150" dirty="0"/>
          </a:p>
        </p:txBody>
      </p:sp>
      <p:sp>
        <p:nvSpPr>
          <p:cNvPr id="19" name="Shape 14"/>
          <p:cNvSpPr/>
          <p:nvPr/>
        </p:nvSpPr>
        <p:spPr>
          <a:xfrm>
            <a:off x="5029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5285232" y="3502152"/>
            <a:ext cx="548640" cy="548640"/>
          </a:xfrm>
          <a:prstGeom prst="ellipse">
            <a:avLst/>
          </a:prstGeom>
          <a:solidFill>
            <a:srgbClr val="1B3A57"/>
          </a:solidFill>
          <a:ln/>
        </p:spPr>
      </p:sp>
      <p:pic>
        <p:nvPicPr>
          <p:cNvPr id="21" name="Image 3" descr="preencoded.png">    </p:cNvPr>
          <p:cNvPicPr>
            <a:picLocks noChangeAspect="1"/>
          </p:cNvPicPr>
          <p:nvPr/>
        </p:nvPicPr>
        <p:blipFill>
          <a:blip r:embed="rId4"/>
          <a:stretch>
            <a:fillRect/>
          </a:stretch>
        </p:blipFill>
        <p:spPr>
          <a:xfrm>
            <a:off x="5427878" y="3644798"/>
            <a:ext cx="263347" cy="263347"/>
          </a:xfrm>
          <a:prstGeom prst="rect">
            <a:avLst/>
          </a:prstGeom>
        </p:spPr>
      </p:pic>
      <p:sp>
        <p:nvSpPr>
          <p:cNvPr id="22" name="Text 16"/>
          <p:cNvSpPr/>
          <p:nvPr/>
        </p:nvSpPr>
        <p:spPr>
          <a:xfrm>
            <a:off x="5989320" y="3557016"/>
            <a:ext cx="2926080" cy="411480"/>
          </a:xfrm>
          <a:prstGeom prst="rect">
            <a:avLst/>
          </a:prstGeom>
          <a:noFill/>
          <a:ln/>
        </p:spPr>
        <p:txBody>
          <a:bodyPr wrap="square" lIns="0" tIns="0" rIns="0" bIns="0" rtlCol="0" anchor="ctr"/>
          <a:lstStyle/>
          <a:p>
            <a:pPr indent="0" marL="0">
              <a:buNone/>
            </a:pPr>
            <a:r>
              <a:rPr lang="en-US" sz="1550" b="1" dirty="0">
                <a:solidFill>
                  <a:srgbClr val="E8F2FB"/>
                </a:solidFill>
                <a:latin typeface="Arial" pitchFamily="34" charset="0"/>
                <a:ea typeface="Arial" pitchFamily="34" charset="-122"/>
                <a:cs typeface="Arial" pitchFamily="34" charset="-120"/>
              </a:rPr>
              <a:t>Text-to-Speech</a:t>
            </a:r>
            <a:endParaRPr lang="en-US" sz="1550" dirty="0"/>
          </a:p>
        </p:txBody>
      </p:sp>
      <p:sp>
        <p:nvSpPr>
          <p:cNvPr id="23" name="Text 17"/>
          <p:cNvSpPr/>
          <p:nvPr/>
        </p:nvSpPr>
        <p:spPr>
          <a:xfrm>
            <a:off x="5285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Artikel bisa dibacakan dengan suara Bahasa Indonesia via Web Speech API.</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07 — DEMO</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Alur Demo di Video Ini</a:t>
            </a:r>
            <a:endParaRPr lang="en-US" sz="3000" dirty="0"/>
          </a:p>
        </p:txBody>
      </p:sp>
      <p:sp>
        <p:nvSpPr>
          <p:cNvPr id="4" name="Shape 2"/>
          <p:cNvSpPr/>
          <p:nvPr/>
        </p:nvSpPr>
        <p:spPr>
          <a:xfrm>
            <a:off x="457200" y="1298448"/>
            <a:ext cx="8229600" cy="621792"/>
          </a:xfrm>
          <a:prstGeom prst="roundRect">
            <a:avLst>
              <a:gd name="adj" fmla="val 1764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658368" y="1399032"/>
            <a:ext cx="420624" cy="420624"/>
          </a:xfrm>
          <a:prstGeom prst="ellipse">
            <a:avLst/>
          </a:prstGeom>
          <a:solidFill>
            <a:srgbClr val="1B3A57"/>
          </a:solidFill>
          <a:ln w="12700">
            <a:solidFill>
              <a:srgbClr val="5CC8FF"/>
            </a:solidFill>
            <a:prstDash val="solid"/>
          </a:ln>
        </p:spPr>
      </p:sp>
      <p:sp>
        <p:nvSpPr>
          <p:cNvPr id="6" name="Text 4"/>
          <p:cNvSpPr/>
          <p:nvPr/>
        </p:nvSpPr>
        <p:spPr>
          <a:xfrm>
            <a:off x="658368" y="1399032"/>
            <a:ext cx="420624" cy="420624"/>
          </a:xfrm>
          <a:prstGeom prst="rect">
            <a:avLst/>
          </a:prstGeom>
          <a:noFill/>
          <a:ln/>
        </p:spPr>
        <p:txBody>
          <a:bodyPr wrap="square" lIns="0" tIns="0" rIns="0" bIns="0" rtlCol="0" anchor="ctr"/>
          <a:lstStyle/>
          <a:p>
            <a:pPr algn="ctr" indent="0" marL="0">
              <a:buNone/>
            </a:pPr>
            <a:r>
              <a:rPr lang="en-US" sz="1500" b="1" dirty="0">
                <a:solidFill>
                  <a:srgbClr val="5CC8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280160" y="1298448"/>
            <a:ext cx="7223760" cy="621792"/>
          </a:xfrm>
          <a:prstGeom prst="rect">
            <a:avLst/>
          </a:prstGeom>
          <a:noFill/>
          <a:ln/>
        </p:spPr>
        <p:txBody>
          <a:bodyPr wrap="square" lIns="0" tIns="0" rIns="0" bIns="0" rtlCol="0" anchor="ctr"/>
          <a:lstStyle/>
          <a:p>
            <a:pPr indent="0" marL="0">
              <a:buNone/>
            </a:pPr>
            <a:r>
              <a:rPr lang="en-US" sz="1250" b="1" dirty="0">
                <a:solidFill>
                  <a:srgbClr val="E8F2FB"/>
                </a:solidFill>
                <a:latin typeface="Arial" pitchFamily="34" charset="0"/>
                <a:ea typeface="Arial" pitchFamily="34" charset="-122"/>
                <a:cs typeface="Arial" pitchFamily="34" charset="-120"/>
              </a:rPr>
              <a:t>Buka beranda  </a:t>
            </a:r>
            <a:pPr indent="0" marL="0">
              <a:buNone/>
            </a:pPr>
            <a:r>
              <a:rPr lang="en-US" sz="1250" dirty="0">
                <a:solidFill>
                  <a:srgbClr val="9FB8CE"/>
                </a:solidFill>
                <a:latin typeface="Arial" pitchFamily="34" charset="0"/>
                <a:ea typeface="Arial" pitchFamily="34" charset="-122"/>
                <a:cs typeface="Arial" pitchFamily="34" charset="-120"/>
              </a:rPr>
              <a:t>— perhatikan kubus es dan latar yang bergerak mengikuti kursor</a:t>
            </a:r>
            <a:endParaRPr lang="en-US" sz="1250" dirty="0"/>
          </a:p>
        </p:txBody>
      </p:sp>
      <p:sp>
        <p:nvSpPr>
          <p:cNvPr id="8" name="Shape 6"/>
          <p:cNvSpPr/>
          <p:nvPr/>
        </p:nvSpPr>
        <p:spPr>
          <a:xfrm>
            <a:off x="457200" y="2011680"/>
            <a:ext cx="8229600" cy="621792"/>
          </a:xfrm>
          <a:prstGeom prst="roundRect">
            <a:avLst>
              <a:gd name="adj" fmla="val 1764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9" name="Shape 7"/>
          <p:cNvSpPr/>
          <p:nvPr/>
        </p:nvSpPr>
        <p:spPr>
          <a:xfrm>
            <a:off x="658368" y="2112264"/>
            <a:ext cx="420624" cy="420624"/>
          </a:xfrm>
          <a:prstGeom prst="ellipse">
            <a:avLst/>
          </a:prstGeom>
          <a:solidFill>
            <a:srgbClr val="1B3A57"/>
          </a:solidFill>
          <a:ln w="12700">
            <a:solidFill>
              <a:srgbClr val="5CC8FF"/>
            </a:solidFill>
            <a:prstDash val="solid"/>
          </a:ln>
        </p:spPr>
      </p:sp>
      <p:sp>
        <p:nvSpPr>
          <p:cNvPr id="10" name="Text 8"/>
          <p:cNvSpPr/>
          <p:nvPr/>
        </p:nvSpPr>
        <p:spPr>
          <a:xfrm>
            <a:off x="658368" y="2112264"/>
            <a:ext cx="420624" cy="420624"/>
          </a:xfrm>
          <a:prstGeom prst="rect">
            <a:avLst/>
          </a:prstGeom>
          <a:noFill/>
          <a:ln/>
        </p:spPr>
        <p:txBody>
          <a:bodyPr wrap="square" lIns="0" tIns="0" rIns="0" bIns="0" rtlCol="0" anchor="ctr"/>
          <a:lstStyle/>
          <a:p>
            <a:pPr algn="ctr" indent="0" marL="0">
              <a:buNone/>
            </a:pPr>
            <a:r>
              <a:rPr lang="en-US" sz="1500" b="1" dirty="0">
                <a:solidFill>
                  <a:srgbClr val="5CC8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280160" y="2011680"/>
            <a:ext cx="7223760" cy="621792"/>
          </a:xfrm>
          <a:prstGeom prst="rect">
            <a:avLst/>
          </a:prstGeom>
          <a:noFill/>
          <a:ln/>
        </p:spPr>
        <p:txBody>
          <a:bodyPr wrap="square" lIns="0" tIns="0" rIns="0" bIns="0" rtlCol="0" anchor="ctr"/>
          <a:lstStyle/>
          <a:p>
            <a:pPr indent="0" marL="0">
              <a:buNone/>
            </a:pPr>
            <a:r>
              <a:rPr lang="en-US" sz="1250" b="1" dirty="0">
                <a:solidFill>
                  <a:srgbClr val="E8F2FB"/>
                </a:solidFill>
                <a:latin typeface="Arial" pitchFamily="34" charset="0"/>
                <a:ea typeface="Arial" pitchFamily="34" charset="-122"/>
                <a:cs typeface="Arial" pitchFamily="34" charset="-120"/>
              </a:rPr>
              <a:t>Arahkan kursor ke kartu artikel  </a:t>
            </a:r>
            <a:pPr indent="0" marL="0">
              <a:buNone/>
            </a:pPr>
            <a:r>
              <a:rPr lang="en-US" sz="1250" dirty="0">
                <a:solidFill>
                  <a:srgbClr val="9FB8CE"/>
                </a:solidFill>
                <a:latin typeface="Arial" pitchFamily="34" charset="0"/>
                <a:ea typeface="Arial" pitchFamily="34" charset="-122"/>
                <a:cs typeface="Arial" pitchFamily="34" charset="-120"/>
              </a:rPr>
              <a:t>— kartu miring 3D dengan kilau yang mengikuti mouse</a:t>
            </a:r>
            <a:endParaRPr lang="en-US" sz="1250" dirty="0"/>
          </a:p>
        </p:txBody>
      </p:sp>
      <p:sp>
        <p:nvSpPr>
          <p:cNvPr id="12" name="Shape 10"/>
          <p:cNvSpPr/>
          <p:nvPr/>
        </p:nvSpPr>
        <p:spPr>
          <a:xfrm>
            <a:off x="457200" y="2724912"/>
            <a:ext cx="8229600" cy="621792"/>
          </a:xfrm>
          <a:prstGeom prst="roundRect">
            <a:avLst>
              <a:gd name="adj" fmla="val 1764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3" name="Shape 11"/>
          <p:cNvSpPr/>
          <p:nvPr/>
        </p:nvSpPr>
        <p:spPr>
          <a:xfrm>
            <a:off x="658368" y="2825496"/>
            <a:ext cx="420624" cy="420624"/>
          </a:xfrm>
          <a:prstGeom prst="ellipse">
            <a:avLst/>
          </a:prstGeom>
          <a:solidFill>
            <a:srgbClr val="1B3A57"/>
          </a:solidFill>
          <a:ln w="12700">
            <a:solidFill>
              <a:srgbClr val="5CC8FF"/>
            </a:solidFill>
            <a:prstDash val="solid"/>
          </a:ln>
        </p:spPr>
      </p:sp>
      <p:sp>
        <p:nvSpPr>
          <p:cNvPr id="14" name="Text 12"/>
          <p:cNvSpPr/>
          <p:nvPr/>
        </p:nvSpPr>
        <p:spPr>
          <a:xfrm>
            <a:off x="658368" y="2825496"/>
            <a:ext cx="420624" cy="420624"/>
          </a:xfrm>
          <a:prstGeom prst="rect">
            <a:avLst/>
          </a:prstGeom>
          <a:noFill/>
          <a:ln/>
        </p:spPr>
        <p:txBody>
          <a:bodyPr wrap="square" lIns="0" tIns="0" rIns="0" bIns="0" rtlCol="0" anchor="ctr"/>
          <a:lstStyle/>
          <a:p>
            <a:pPr algn="ctr" indent="0" marL="0">
              <a:buNone/>
            </a:pPr>
            <a:r>
              <a:rPr lang="en-US" sz="1500" b="1" dirty="0">
                <a:solidFill>
                  <a:srgbClr val="5CC8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280160" y="2724912"/>
            <a:ext cx="7223760" cy="621792"/>
          </a:xfrm>
          <a:prstGeom prst="rect">
            <a:avLst/>
          </a:prstGeom>
          <a:noFill/>
          <a:ln/>
        </p:spPr>
        <p:txBody>
          <a:bodyPr wrap="square" lIns="0" tIns="0" rIns="0" bIns="0" rtlCol="0" anchor="ctr"/>
          <a:lstStyle/>
          <a:p>
            <a:pPr indent="0" marL="0">
              <a:buNone/>
            </a:pPr>
            <a:r>
              <a:rPr lang="en-US" sz="1250" b="1" dirty="0">
                <a:solidFill>
                  <a:srgbClr val="E8F2FB"/>
                </a:solidFill>
                <a:latin typeface="Arial" pitchFamily="34" charset="0"/>
                <a:ea typeface="Arial" pitchFamily="34" charset="-122"/>
                <a:cs typeface="Arial" pitchFamily="34" charset="-120"/>
              </a:rPr>
              <a:t>Ketik di kotak pencarian  </a:t>
            </a:r>
            <a:pPr indent="0" marL="0">
              <a:buNone/>
            </a:pPr>
            <a:r>
              <a:rPr lang="en-US" sz="1250" dirty="0">
                <a:solidFill>
                  <a:srgbClr val="9FB8CE"/>
                </a:solidFill>
                <a:latin typeface="Arial" pitchFamily="34" charset="0"/>
                <a:ea typeface="Arial" pitchFamily="34" charset="-122"/>
                <a:cs typeface="Arial" pitchFamily="34" charset="-120"/>
              </a:rPr>
              <a:t>— hasil muncul instan tanpa reload halaman</a:t>
            </a:r>
            <a:endParaRPr lang="en-US" sz="1250" dirty="0"/>
          </a:p>
        </p:txBody>
      </p:sp>
      <p:sp>
        <p:nvSpPr>
          <p:cNvPr id="16" name="Shape 14"/>
          <p:cNvSpPr/>
          <p:nvPr/>
        </p:nvSpPr>
        <p:spPr>
          <a:xfrm>
            <a:off x="457200" y="3438144"/>
            <a:ext cx="8229600" cy="621792"/>
          </a:xfrm>
          <a:prstGeom prst="roundRect">
            <a:avLst>
              <a:gd name="adj" fmla="val 1764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7" name="Shape 15"/>
          <p:cNvSpPr/>
          <p:nvPr/>
        </p:nvSpPr>
        <p:spPr>
          <a:xfrm>
            <a:off x="658368" y="3538728"/>
            <a:ext cx="420624" cy="420624"/>
          </a:xfrm>
          <a:prstGeom prst="ellipse">
            <a:avLst/>
          </a:prstGeom>
          <a:solidFill>
            <a:srgbClr val="1B3A57"/>
          </a:solidFill>
          <a:ln w="12700">
            <a:solidFill>
              <a:srgbClr val="5CC8FF"/>
            </a:solidFill>
            <a:prstDash val="solid"/>
          </a:ln>
        </p:spPr>
      </p:sp>
      <p:sp>
        <p:nvSpPr>
          <p:cNvPr id="18" name="Text 16"/>
          <p:cNvSpPr/>
          <p:nvPr/>
        </p:nvSpPr>
        <p:spPr>
          <a:xfrm>
            <a:off x="658368" y="3538728"/>
            <a:ext cx="420624" cy="420624"/>
          </a:xfrm>
          <a:prstGeom prst="rect">
            <a:avLst/>
          </a:prstGeom>
          <a:noFill/>
          <a:ln/>
        </p:spPr>
        <p:txBody>
          <a:bodyPr wrap="square" lIns="0" tIns="0" rIns="0" bIns="0" rtlCol="0" anchor="ctr"/>
          <a:lstStyle/>
          <a:p>
            <a:pPr algn="ctr" indent="0" marL="0">
              <a:buNone/>
            </a:pPr>
            <a:r>
              <a:rPr lang="en-US" sz="1500" b="1" dirty="0">
                <a:solidFill>
                  <a:srgbClr val="5CC8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280160" y="3438144"/>
            <a:ext cx="7223760" cy="621792"/>
          </a:xfrm>
          <a:prstGeom prst="rect">
            <a:avLst/>
          </a:prstGeom>
          <a:noFill/>
          <a:ln/>
        </p:spPr>
        <p:txBody>
          <a:bodyPr wrap="square" lIns="0" tIns="0" rIns="0" bIns="0" rtlCol="0" anchor="ctr"/>
          <a:lstStyle/>
          <a:p>
            <a:pPr indent="0" marL="0">
              <a:buNone/>
            </a:pPr>
            <a:r>
              <a:rPr lang="en-US" sz="1250" b="1" dirty="0">
                <a:solidFill>
                  <a:srgbClr val="E8F2FB"/>
                </a:solidFill>
                <a:latin typeface="Arial" pitchFamily="34" charset="0"/>
                <a:ea typeface="Arial" pitchFamily="34" charset="-122"/>
                <a:cs typeface="Arial" pitchFamily="34" charset="-120"/>
              </a:rPr>
              <a:t>Buka satu artikel  </a:t>
            </a:r>
            <a:pPr indent="0" marL="0">
              <a:buNone/>
            </a:pPr>
            <a:r>
              <a:rPr lang="en-US" sz="1250" dirty="0">
                <a:solidFill>
                  <a:srgbClr val="9FB8CE"/>
                </a:solidFill>
                <a:latin typeface="Arial" pitchFamily="34" charset="0"/>
                <a:ea typeface="Arial" pitchFamily="34" charset="-122"/>
                <a:cs typeface="Arial" pitchFamily="34" charset="-120"/>
              </a:rPr>
              <a:t>— progress bar, waktu baca, dan view counter tampil</a:t>
            </a:r>
            <a:endParaRPr lang="en-US" sz="1250" dirty="0"/>
          </a:p>
        </p:txBody>
      </p:sp>
      <p:sp>
        <p:nvSpPr>
          <p:cNvPr id="20" name="Shape 18"/>
          <p:cNvSpPr/>
          <p:nvPr/>
        </p:nvSpPr>
        <p:spPr>
          <a:xfrm>
            <a:off x="457200" y="4151376"/>
            <a:ext cx="8229600" cy="621792"/>
          </a:xfrm>
          <a:prstGeom prst="roundRect">
            <a:avLst>
              <a:gd name="adj" fmla="val 17647"/>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1" name="Shape 19"/>
          <p:cNvSpPr/>
          <p:nvPr/>
        </p:nvSpPr>
        <p:spPr>
          <a:xfrm>
            <a:off x="658368" y="4251960"/>
            <a:ext cx="420624" cy="420624"/>
          </a:xfrm>
          <a:prstGeom prst="ellipse">
            <a:avLst/>
          </a:prstGeom>
          <a:solidFill>
            <a:srgbClr val="1B3A57"/>
          </a:solidFill>
          <a:ln w="12700">
            <a:solidFill>
              <a:srgbClr val="5CC8FF"/>
            </a:solidFill>
            <a:prstDash val="solid"/>
          </a:ln>
        </p:spPr>
      </p:sp>
      <p:sp>
        <p:nvSpPr>
          <p:cNvPr id="22" name="Text 20"/>
          <p:cNvSpPr/>
          <p:nvPr/>
        </p:nvSpPr>
        <p:spPr>
          <a:xfrm>
            <a:off x="658368" y="4251960"/>
            <a:ext cx="420624" cy="420624"/>
          </a:xfrm>
          <a:prstGeom prst="rect">
            <a:avLst/>
          </a:prstGeom>
          <a:noFill/>
          <a:ln/>
        </p:spPr>
        <p:txBody>
          <a:bodyPr wrap="square" lIns="0" tIns="0" rIns="0" bIns="0" rtlCol="0" anchor="ctr"/>
          <a:lstStyle/>
          <a:p>
            <a:pPr algn="ctr" indent="0" marL="0">
              <a:buNone/>
            </a:pPr>
            <a:r>
              <a:rPr lang="en-US" sz="1500" b="1" dirty="0">
                <a:solidFill>
                  <a:srgbClr val="5CC8FF"/>
                </a:solidFill>
                <a:latin typeface="Arial" pitchFamily="34" charset="0"/>
                <a:ea typeface="Arial" pitchFamily="34" charset="-122"/>
                <a:cs typeface="Arial" pitchFamily="34" charset="-120"/>
              </a:rPr>
              <a:t>5</a:t>
            </a:r>
            <a:endParaRPr lang="en-US" sz="1500" dirty="0"/>
          </a:p>
        </p:txBody>
      </p:sp>
      <p:sp>
        <p:nvSpPr>
          <p:cNvPr id="23" name="Text 21"/>
          <p:cNvSpPr/>
          <p:nvPr/>
        </p:nvSpPr>
        <p:spPr>
          <a:xfrm>
            <a:off x="1280160" y="4151376"/>
            <a:ext cx="7223760" cy="621792"/>
          </a:xfrm>
          <a:prstGeom prst="rect">
            <a:avLst/>
          </a:prstGeom>
          <a:noFill/>
          <a:ln/>
        </p:spPr>
        <p:txBody>
          <a:bodyPr wrap="square" lIns="0" tIns="0" rIns="0" bIns="0" rtlCol="0" anchor="ctr"/>
          <a:lstStyle/>
          <a:p>
            <a:pPr indent="0" marL="0">
              <a:buNone/>
            </a:pPr>
            <a:r>
              <a:rPr lang="en-US" sz="1250" b="1" dirty="0">
                <a:solidFill>
                  <a:srgbClr val="E8F2FB"/>
                </a:solidFill>
                <a:latin typeface="Arial" pitchFamily="34" charset="0"/>
                <a:ea typeface="Arial" pitchFamily="34" charset="-122"/>
                <a:cs typeface="Arial" pitchFamily="34" charset="-120"/>
              </a:rPr>
              <a:t>Klik like &amp; putar text-to-speech  </a:t>
            </a:r>
            <a:pPr indent="0" marL="0">
              <a:buNone/>
            </a:pPr>
            <a:r>
              <a:rPr lang="en-US" sz="1250" dirty="0">
                <a:solidFill>
                  <a:srgbClr val="9FB8CE"/>
                </a:solidFill>
                <a:latin typeface="Arial" pitchFamily="34" charset="0"/>
                <a:ea typeface="Arial" pitchFamily="34" charset="-122"/>
                <a:cs typeface="Arial" pitchFamily="34" charset="-120"/>
              </a:rPr>
              <a:t>— angka berubah seketika, artikel dibacakan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1100" b="1" spc="400" kern="0" dirty="0">
                <a:solidFill>
                  <a:srgbClr val="5CC8FF"/>
                </a:solidFill>
                <a:latin typeface="Arial" pitchFamily="34" charset="0"/>
                <a:ea typeface="Arial" pitchFamily="34" charset="-122"/>
                <a:cs typeface="Arial" pitchFamily="34" charset="-120"/>
              </a:rPr>
              <a:t>08 — RENCANA</a:t>
            </a:r>
            <a:endParaRPr lang="en-US" sz="11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3000" b="1" dirty="0">
                <a:solidFill>
                  <a:srgbClr val="E8F2FB"/>
                </a:solidFill>
                <a:latin typeface="Arial" pitchFamily="34" charset="0"/>
                <a:ea typeface="Arial" pitchFamily="34" charset="-122"/>
                <a:cs typeface="Arial" pitchFamily="34" charset="-120"/>
              </a:rPr>
              <a:t>Pengembangan ke Depan</a:t>
            </a:r>
            <a:endParaRPr lang="en-US" sz="3000" dirty="0"/>
          </a:p>
        </p:txBody>
      </p:sp>
      <p:sp>
        <p:nvSpPr>
          <p:cNvPr id="4" name="Shape 2"/>
          <p:cNvSpPr/>
          <p:nvPr/>
        </p:nvSpPr>
        <p:spPr>
          <a:xfrm>
            <a:off x="457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13232" y="1536192"/>
            <a:ext cx="548640" cy="548640"/>
          </a:xfrm>
          <a:prstGeom prst="ellipse">
            <a:avLst/>
          </a:prstGeom>
          <a:solidFill>
            <a:srgbClr val="1B3A57"/>
          </a:solidFill>
          <a:ln/>
        </p:spPr>
      </p:sp>
      <p:pic>
        <p:nvPicPr>
          <p:cNvPr id="6" name="Image 0" descr="preencoded.png">    </p:cNvPr>
          <p:cNvPicPr>
            <a:picLocks noChangeAspect="1"/>
          </p:cNvPicPr>
          <p:nvPr/>
        </p:nvPicPr>
        <p:blipFill>
          <a:blip r:embed="rId1"/>
          <a:stretch>
            <a:fillRect/>
          </a:stretch>
        </p:blipFill>
        <p:spPr>
          <a:xfrm>
            <a:off x="855878" y="1678838"/>
            <a:ext cx="263347" cy="263347"/>
          </a:xfrm>
          <a:prstGeom prst="rect">
            <a:avLst/>
          </a:prstGeom>
        </p:spPr>
      </p:pic>
      <p:sp>
        <p:nvSpPr>
          <p:cNvPr id="7" name="Text 4"/>
          <p:cNvSpPr/>
          <p:nvPr/>
        </p:nvSpPr>
        <p:spPr>
          <a:xfrm>
            <a:off x="1417320" y="159105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Deploy Online</a:t>
            </a:r>
            <a:endParaRPr lang="en-US" sz="1600" dirty="0"/>
          </a:p>
        </p:txBody>
      </p:sp>
      <p:sp>
        <p:nvSpPr>
          <p:cNvPr id="8" name="Text 5"/>
          <p:cNvSpPr/>
          <p:nvPr/>
        </p:nvSpPr>
        <p:spPr>
          <a:xfrm>
            <a:off x="713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Hosting di PythonAnywhere agar bisa diakses siapa pun lewat link publik.</a:t>
            </a:r>
            <a:endParaRPr lang="en-US" sz="1150" dirty="0"/>
          </a:p>
        </p:txBody>
      </p:sp>
      <p:sp>
        <p:nvSpPr>
          <p:cNvPr id="9" name="Shape 6"/>
          <p:cNvSpPr/>
          <p:nvPr/>
        </p:nvSpPr>
        <p:spPr>
          <a:xfrm>
            <a:off x="5029200" y="128016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5285232" y="1536192"/>
            <a:ext cx="548640" cy="548640"/>
          </a:xfrm>
          <a:prstGeom prst="ellipse">
            <a:avLst/>
          </a:prstGeom>
          <a:solidFill>
            <a:srgbClr val="1B3A57"/>
          </a:solidFill>
          <a:ln/>
        </p:spPr>
      </p:sp>
      <p:pic>
        <p:nvPicPr>
          <p:cNvPr id="11" name="Image 1" descr="preencoded.png">    </p:cNvPr>
          <p:cNvPicPr>
            <a:picLocks noChangeAspect="1"/>
          </p:cNvPicPr>
          <p:nvPr/>
        </p:nvPicPr>
        <p:blipFill>
          <a:blip r:embed="rId2"/>
          <a:stretch>
            <a:fillRect/>
          </a:stretch>
        </p:blipFill>
        <p:spPr>
          <a:xfrm>
            <a:off x="5427878" y="1678838"/>
            <a:ext cx="263347" cy="263347"/>
          </a:xfrm>
          <a:prstGeom prst="rect">
            <a:avLst/>
          </a:prstGeom>
        </p:spPr>
      </p:pic>
      <p:sp>
        <p:nvSpPr>
          <p:cNvPr id="12" name="Text 8"/>
          <p:cNvSpPr/>
          <p:nvPr/>
        </p:nvSpPr>
        <p:spPr>
          <a:xfrm>
            <a:off x="5989320" y="159105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Kolom Komentar</a:t>
            </a:r>
            <a:endParaRPr lang="en-US" sz="1600" dirty="0"/>
          </a:p>
        </p:txBody>
      </p:sp>
      <p:sp>
        <p:nvSpPr>
          <p:cNvPr id="13" name="Text 9"/>
          <p:cNvSpPr/>
          <p:nvPr/>
        </p:nvSpPr>
        <p:spPr>
          <a:xfrm>
            <a:off x="5285232" y="219456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Pembaca bisa berdiskusi langsung di bawah setiap artikel.</a:t>
            </a:r>
            <a:endParaRPr lang="en-US" sz="1150" dirty="0"/>
          </a:p>
        </p:txBody>
      </p:sp>
      <p:sp>
        <p:nvSpPr>
          <p:cNvPr id="14" name="Shape 10"/>
          <p:cNvSpPr/>
          <p:nvPr/>
        </p:nvSpPr>
        <p:spPr>
          <a:xfrm>
            <a:off x="457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713232" y="3502152"/>
            <a:ext cx="548640" cy="548640"/>
          </a:xfrm>
          <a:prstGeom prst="ellipse">
            <a:avLst/>
          </a:prstGeom>
          <a:solidFill>
            <a:srgbClr val="1B3A57"/>
          </a:solidFill>
          <a:ln/>
        </p:spPr>
      </p:sp>
      <p:pic>
        <p:nvPicPr>
          <p:cNvPr id="16" name="Image 2" descr="preencoded.png">    </p:cNvPr>
          <p:cNvPicPr>
            <a:picLocks noChangeAspect="1"/>
          </p:cNvPicPr>
          <p:nvPr/>
        </p:nvPicPr>
        <p:blipFill>
          <a:blip r:embed="rId3"/>
          <a:stretch>
            <a:fillRect/>
          </a:stretch>
        </p:blipFill>
        <p:spPr>
          <a:xfrm>
            <a:off x="855878" y="3644798"/>
            <a:ext cx="263347" cy="263347"/>
          </a:xfrm>
          <a:prstGeom prst="rect">
            <a:avLst/>
          </a:prstGeom>
        </p:spPr>
      </p:pic>
      <p:sp>
        <p:nvSpPr>
          <p:cNvPr id="17" name="Text 12"/>
          <p:cNvSpPr/>
          <p:nvPr/>
        </p:nvSpPr>
        <p:spPr>
          <a:xfrm>
            <a:off x="1417320" y="355701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Kategori &amp; Tag</a:t>
            </a:r>
            <a:endParaRPr lang="en-US" sz="1600" dirty="0"/>
          </a:p>
        </p:txBody>
      </p:sp>
      <p:sp>
        <p:nvSpPr>
          <p:cNvPr id="18" name="Text 13"/>
          <p:cNvSpPr/>
          <p:nvPr/>
        </p:nvSpPr>
        <p:spPr>
          <a:xfrm>
            <a:off x="713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Artikel dikelompokkan per topik agar mudah dijelajahi.</a:t>
            </a:r>
            <a:endParaRPr lang="en-US" sz="1150" dirty="0"/>
          </a:p>
        </p:txBody>
      </p:sp>
      <p:sp>
        <p:nvSpPr>
          <p:cNvPr id="19" name="Shape 14"/>
          <p:cNvSpPr/>
          <p:nvPr/>
        </p:nvSpPr>
        <p:spPr>
          <a:xfrm>
            <a:off x="5029200" y="3246120"/>
            <a:ext cx="4114800" cy="1691640"/>
          </a:xfrm>
          <a:prstGeom prst="roundRect">
            <a:avLst>
              <a:gd name="adj" fmla="val 6486"/>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5285232" y="3502152"/>
            <a:ext cx="548640" cy="548640"/>
          </a:xfrm>
          <a:prstGeom prst="ellipse">
            <a:avLst/>
          </a:prstGeom>
          <a:solidFill>
            <a:srgbClr val="1B3A57"/>
          </a:solidFill>
          <a:ln/>
        </p:spPr>
      </p:sp>
      <p:pic>
        <p:nvPicPr>
          <p:cNvPr id="21" name="Image 3" descr="preencoded.png">    </p:cNvPr>
          <p:cNvPicPr>
            <a:picLocks noChangeAspect="1"/>
          </p:cNvPicPr>
          <p:nvPr/>
        </p:nvPicPr>
        <p:blipFill>
          <a:blip r:embed="rId4"/>
          <a:stretch>
            <a:fillRect/>
          </a:stretch>
        </p:blipFill>
        <p:spPr>
          <a:xfrm>
            <a:off x="5427878" y="3644798"/>
            <a:ext cx="263347" cy="263347"/>
          </a:xfrm>
          <a:prstGeom prst="rect">
            <a:avLst/>
          </a:prstGeom>
        </p:spPr>
      </p:pic>
      <p:sp>
        <p:nvSpPr>
          <p:cNvPr id="22" name="Text 16"/>
          <p:cNvSpPr/>
          <p:nvPr/>
        </p:nvSpPr>
        <p:spPr>
          <a:xfrm>
            <a:off x="5989320" y="3557016"/>
            <a:ext cx="2926080" cy="411480"/>
          </a:xfrm>
          <a:prstGeom prst="rect">
            <a:avLst/>
          </a:prstGeom>
          <a:noFill/>
          <a:ln/>
        </p:spPr>
        <p:txBody>
          <a:bodyPr wrap="square" lIns="0" tIns="0" rIns="0" bIns="0" rtlCol="0" anchor="ctr"/>
          <a:lstStyle/>
          <a:p>
            <a:pPr indent="0" marL="0">
              <a:buNone/>
            </a:pPr>
            <a:r>
              <a:rPr lang="en-US" sz="1600" b="1" dirty="0">
                <a:solidFill>
                  <a:srgbClr val="E8F2FB"/>
                </a:solidFill>
                <a:latin typeface="Arial" pitchFamily="34" charset="0"/>
                <a:ea typeface="Arial" pitchFamily="34" charset="-122"/>
                <a:cs typeface="Arial" pitchFamily="34" charset="-120"/>
              </a:rPr>
              <a:t>Akun Penulis</a:t>
            </a:r>
            <a:endParaRPr lang="en-US" sz="1600" dirty="0"/>
          </a:p>
        </p:txBody>
      </p:sp>
      <p:sp>
        <p:nvSpPr>
          <p:cNvPr id="23" name="Text 17"/>
          <p:cNvSpPr/>
          <p:nvPr/>
        </p:nvSpPr>
        <p:spPr>
          <a:xfrm>
            <a:off x="5285232" y="4160520"/>
            <a:ext cx="3602736" cy="685800"/>
          </a:xfrm>
          <a:prstGeom prst="rect">
            <a:avLst/>
          </a:prstGeom>
          <a:noFill/>
          <a:ln/>
        </p:spPr>
        <p:txBody>
          <a:bodyPr wrap="square" lIns="0" tIns="0" rIns="0" bIns="0" rtlCol="0" anchor="ctr"/>
          <a:lstStyle/>
          <a:p>
            <a:pPr indent="0" marL="0">
              <a:lnSpc>
                <a:spcPct val="115000"/>
              </a:lnSpc>
              <a:buNone/>
            </a:pPr>
            <a:r>
              <a:rPr lang="en-US" sz="1150" dirty="0">
                <a:solidFill>
                  <a:srgbClr val="9FB8CE"/>
                </a:solidFill>
                <a:latin typeface="Arial" pitchFamily="34" charset="0"/>
                <a:ea typeface="Arial" pitchFamily="34" charset="-122"/>
                <a:cs typeface="Arial" pitchFamily="34" charset="-120"/>
              </a:rPr>
              <a:t>Halaman tulis artikel langsung dari web, tanpa lewat admin panel.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Shape 0"/>
          <p:cNvSpPr/>
          <p:nvPr/>
        </p:nvSpPr>
        <p:spPr>
          <a:xfrm>
            <a:off x="8138160" y="-457200"/>
            <a:ext cx="1554480" cy="1554480"/>
          </a:xfrm>
          <a:prstGeom prst="diamond">
            <a:avLst/>
          </a:prstGeom>
          <a:solidFill>
            <a:srgbClr val="5CC8FF">
              <a:alpha val="8000"/>
            </a:srgbClr>
          </a:solidFill>
          <a:ln w="9525">
            <a:solidFill>
              <a:srgbClr val="5CC8FF">
                <a:alpha val="30000"/>
              </a:srgbClr>
            </a:solidFill>
            <a:prstDash val="solid"/>
          </a:ln>
        </p:spPr>
      </p:sp>
      <p:sp>
        <p:nvSpPr>
          <p:cNvPr id="3" name="Shape 1"/>
          <p:cNvSpPr/>
          <p:nvPr/>
        </p:nvSpPr>
        <p:spPr>
          <a:xfrm>
            <a:off x="-640080" y="4206240"/>
            <a:ext cx="1371600" cy="1371600"/>
          </a:xfrm>
          <a:prstGeom prst="diamond">
            <a:avLst/>
          </a:prstGeom>
          <a:solidFill>
            <a:srgbClr val="9DB8FF">
              <a:alpha val="7000"/>
            </a:srgbClr>
          </a:solidFill>
          <a:ln w="9525">
            <a:solidFill>
              <a:srgbClr val="9DB8FF">
                <a:alpha val="25000"/>
              </a:srgbClr>
            </a:solidFill>
            <a:prstDash val="solid"/>
          </a:ln>
        </p:spPr>
      </p:sp>
      <p:sp>
        <p:nvSpPr>
          <p:cNvPr id="4" name="Text 2"/>
          <p:cNvSpPr/>
          <p:nvPr/>
        </p:nvSpPr>
        <p:spPr>
          <a:xfrm>
            <a:off x="457200" y="1051560"/>
            <a:ext cx="8229600" cy="822960"/>
          </a:xfrm>
          <a:prstGeom prst="rect">
            <a:avLst/>
          </a:prstGeom>
          <a:noFill/>
          <a:ln/>
        </p:spPr>
        <p:txBody>
          <a:bodyPr wrap="square" rtlCol="0" anchor="ctr"/>
          <a:lstStyle/>
          <a:p>
            <a:pPr algn="ctr" indent="0" marL="0">
              <a:buNone/>
            </a:pPr>
            <a:r>
              <a:rPr lang="en-US" sz="4800" b="1" spc="400" kern="0" dirty="0">
                <a:solidFill>
                  <a:srgbClr val="E8F2FB"/>
                </a:solidFill>
                <a:latin typeface="Arial" pitchFamily="34" charset="0"/>
                <a:ea typeface="Arial" pitchFamily="34" charset="-122"/>
                <a:cs typeface="Arial" pitchFamily="34" charset="-120"/>
              </a:rPr>
              <a:t>GLACI</a:t>
            </a:r>
            <a:pPr algn="ctr" indent="0" marL="0">
              <a:buNone/>
            </a:pPr>
            <a:r>
              <a:rPr lang="en-US" sz="4800" b="1" spc="400" kern="0" dirty="0">
                <a:solidFill>
                  <a:srgbClr val="5CC8FF"/>
                </a:solidFill>
                <a:latin typeface="Arial" pitchFamily="34" charset="0"/>
                <a:ea typeface="Arial" pitchFamily="34" charset="-122"/>
                <a:cs typeface="Arial" pitchFamily="34" charset="-120"/>
              </a:rPr>
              <a:t>REY</a:t>
            </a:r>
            <a:endParaRPr lang="en-US" sz="4800" dirty="0"/>
          </a:p>
        </p:txBody>
      </p:sp>
      <p:sp>
        <p:nvSpPr>
          <p:cNvPr id="5" name="Text 3"/>
          <p:cNvSpPr/>
          <p:nvPr/>
        </p:nvSpPr>
        <p:spPr>
          <a:xfrm>
            <a:off x="457200" y="1965960"/>
            <a:ext cx="8229600" cy="411480"/>
          </a:xfrm>
          <a:prstGeom prst="rect">
            <a:avLst/>
          </a:prstGeom>
          <a:noFill/>
          <a:ln/>
        </p:spPr>
        <p:txBody>
          <a:bodyPr wrap="square" rtlCol="0" anchor="ctr"/>
          <a:lstStyle/>
          <a:p>
            <a:pPr algn="ctr" indent="0" marL="0">
              <a:buNone/>
            </a:pPr>
            <a:r>
              <a:rPr lang="en-US" sz="2000" dirty="0">
                <a:solidFill>
                  <a:srgbClr val="9FB8CE"/>
                </a:solidFill>
                <a:latin typeface="Arial" pitchFamily="34" charset="0"/>
                <a:ea typeface="Arial" pitchFamily="34" charset="-122"/>
                <a:cs typeface="Arial" pitchFamily="34" charset="-120"/>
              </a:rPr>
              <a:t>Terima kasih sudah menonton!</a:t>
            </a:r>
            <a:endParaRPr lang="en-US" sz="2000" dirty="0"/>
          </a:p>
        </p:txBody>
      </p:sp>
      <p:sp>
        <p:nvSpPr>
          <p:cNvPr id="6" name="Shape 4"/>
          <p:cNvSpPr/>
          <p:nvPr/>
        </p:nvSpPr>
        <p:spPr>
          <a:xfrm>
            <a:off x="1234440" y="2743200"/>
            <a:ext cx="2011680" cy="1371600"/>
          </a:xfrm>
          <a:prstGeom prst="roundRect">
            <a:avLst>
              <a:gd name="adj" fmla="val 8000"/>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1234440" y="2880360"/>
            <a:ext cx="2011680" cy="640080"/>
          </a:xfrm>
          <a:prstGeom prst="rect">
            <a:avLst/>
          </a:prstGeom>
          <a:noFill/>
          <a:ln/>
        </p:spPr>
        <p:txBody>
          <a:bodyPr wrap="square" rtlCol="0" anchor="ctr"/>
          <a:lstStyle/>
          <a:p>
            <a:pPr algn="ctr" indent="0" marL="0">
              <a:buNone/>
            </a:pPr>
            <a:r>
              <a:rPr lang="en-US" sz="3400" b="1" dirty="0">
                <a:solidFill>
                  <a:srgbClr val="5CC8FF"/>
                </a:solidFill>
                <a:latin typeface="Arial" pitchFamily="34" charset="0"/>
                <a:ea typeface="Arial" pitchFamily="34" charset="-122"/>
                <a:cs typeface="Arial" pitchFamily="34" charset="-120"/>
              </a:rPr>
              <a:t>7</a:t>
            </a:r>
            <a:endParaRPr lang="en-US" sz="3400" dirty="0"/>
          </a:p>
        </p:txBody>
      </p:sp>
      <p:sp>
        <p:nvSpPr>
          <p:cNvPr id="8" name="Text 6"/>
          <p:cNvSpPr/>
          <p:nvPr/>
        </p:nvSpPr>
        <p:spPr>
          <a:xfrm>
            <a:off x="1234440" y="3566160"/>
            <a:ext cx="2011680" cy="365760"/>
          </a:xfrm>
          <a:prstGeom prst="rect">
            <a:avLst/>
          </a:prstGeom>
          <a:noFill/>
          <a:ln/>
        </p:spPr>
        <p:txBody>
          <a:bodyPr wrap="square" rtlCol="0" anchor="ctr"/>
          <a:lstStyle/>
          <a:p>
            <a:pPr algn="ctr" indent="0" marL="0">
              <a:buNone/>
            </a:pPr>
            <a:r>
              <a:rPr lang="en-US" sz="1150" dirty="0">
                <a:solidFill>
                  <a:srgbClr val="9FB8CE"/>
                </a:solidFill>
                <a:latin typeface="Arial" pitchFamily="34" charset="0"/>
                <a:ea typeface="Arial" pitchFamily="34" charset="-122"/>
                <a:cs typeface="Arial" pitchFamily="34" charset="-120"/>
              </a:rPr>
              <a:t>fitur interaktif</a:t>
            </a:r>
            <a:endParaRPr lang="en-US" sz="1150" dirty="0"/>
          </a:p>
        </p:txBody>
      </p:sp>
      <p:sp>
        <p:nvSpPr>
          <p:cNvPr id="9" name="Shape 7"/>
          <p:cNvSpPr/>
          <p:nvPr/>
        </p:nvSpPr>
        <p:spPr>
          <a:xfrm>
            <a:off x="3566160" y="2743200"/>
            <a:ext cx="2011680" cy="1371600"/>
          </a:xfrm>
          <a:prstGeom prst="roundRect">
            <a:avLst>
              <a:gd name="adj" fmla="val 8000"/>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3566160" y="2880360"/>
            <a:ext cx="2011680" cy="640080"/>
          </a:xfrm>
          <a:prstGeom prst="rect">
            <a:avLst/>
          </a:prstGeom>
          <a:noFill/>
          <a:ln/>
        </p:spPr>
        <p:txBody>
          <a:bodyPr wrap="square" rtlCol="0" anchor="ctr"/>
          <a:lstStyle/>
          <a:p>
            <a:pPr algn="ctr" indent="0" marL="0">
              <a:buNone/>
            </a:pPr>
            <a:r>
              <a:rPr lang="en-US" sz="3400" b="1" dirty="0">
                <a:solidFill>
                  <a:srgbClr val="5CC8FF"/>
                </a:solidFill>
                <a:latin typeface="Arial" pitchFamily="34" charset="0"/>
                <a:ea typeface="Arial" pitchFamily="34" charset="-122"/>
                <a:cs typeface="Arial" pitchFamily="34" charset="-120"/>
              </a:rPr>
              <a:t>4</a:t>
            </a:r>
            <a:endParaRPr lang="en-US" sz="3400" dirty="0"/>
          </a:p>
        </p:txBody>
      </p:sp>
      <p:sp>
        <p:nvSpPr>
          <p:cNvPr id="11" name="Text 9"/>
          <p:cNvSpPr/>
          <p:nvPr/>
        </p:nvSpPr>
        <p:spPr>
          <a:xfrm>
            <a:off x="3566160" y="3566160"/>
            <a:ext cx="2011680" cy="365760"/>
          </a:xfrm>
          <a:prstGeom prst="rect">
            <a:avLst/>
          </a:prstGeom>
          <a:noFill/>
          <a:ln/>
        </p:spPr>
        <p:txBody>
          <a:bodyPr wrap="square" rtlCol="0" anchor="ctr"/>
          <a:lstStyle/>
          <a:p>
            <a:pPr algn="ctr" indent="0" marL="0">
              <a:buNone/>
            </a:pPr>
            <a:r>
              <a:rPr lang="en-US" sz="1150" dirty="0">
                <a:solidFill>
                  <a:srgbClr val="9FB8CE"/>
                </a:solidFill>
                <a:latin typeface="Arial" pitchFamily="34" charset="0"/>
                <a:ea typeface="Arial" pitchFamily="34" charset="-122"/>
                <a:cs typeface="Arial" pitchFamily="34" charset="-120"/>
              </a:rPr>
              <a:t>elemen semi-3D</a:t>
            </a:r>
            <a:endParaRPr lang="en-US" sz="1150" dirty="0"/>
          </a:p>
        </p:txBody>
      </p:sp>
      <p:sp>
        <p:nvSpPr>
          <p:cNvPr id="12" name="Shape 10"/>
          <p:cNvSpPr/>
          <p:nvPr/>
        </p:nvSpPr>
        <p:spPr>
          <a:xfrm>
            <a:off x="5897880" y="2743200"/>
            <a:ext cx="2011680" cy="1371600"/>
          </a:xfrm>
          <a:prstGeom prst="roundRect">
            <a:avLst>
              <a:gd name="adj" fmla="val 8000"/>
            </a:avLst>
          </a:prstGeom>
          <a:solidFill>
            <a:srgbClr val="13233B"/>
          </a:solidFill>
          <a:ln w="12700">
            <a:solidFill>
              <a:srgbClr val="2A4A6E"/>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5897880" y="2880360"/>
            <a:ext cx="2011680" cy="640080"/>
          </a:xfrm>
          <a:prstGeom prst="rect">
            <a:avLst/>
          </a:prstGeom>
          <a:noFill/>
          <a:ln/>
        </p:spPr>
        <p:txBody>
          <a:bodyPr wrap="square" rtlCol="0" anchor="ctr"/>
          <a:lstStyle/>
          <a:p>
            <a:pPr algn="ctr" indent="0" marL="0">
              <a:buNone/>
            </a:pPr>
            <a:r>
              <a:rPr lang="en-US" sz="3400" b="1" dirty="0">
                <a:solidFill>
                  <a:srgbClr val="5CC8FF"/>
                </a:solidFill>
                <a:latin typeface="Arial" pitchFamily="34" charset="0"/>
                <a:ea typeface="Arial" pitchFamily="34" charset="-122"/>
                <a:cs typeface="Arial" pitchFamily="34" charset="-120"/>
              </a:rPr>
              <a:t>0</a:t>
            </a:r>
            <a:endParaRPr lang="en-US" sz="3400" dirty="0"/>
          </a:p>
        </p:txBody>
      </p:sp>
      <p:sp>
        <p:nvSpPr>
          <p:cNvPr id="14" name="Text 12"/>
          <p:cNvSpPr/>
          <p:nvPr/>
        </p:nvSpPr>
        <p:spPr>
          <a:xfrm>
            <a:off x="5897880" y="3566160"/>
            <a:ext cx="2011680" cy="365760"/>
          </a:xfrm>
          <a:prstGeom prst="rect">
            <a:avLst/>
          </a:prstGeom>
          <a:noFill/>
          <a:ln/>
        </p:spPr>
        <p:txBody>
          <a:bodyPr wrap="square" rtlCol="0" anchor="ctr"/>
          <a:lstStyle/>
          <a:p>
            <a:pPr algn="ctr" indent="0" marL="0">
              <a:buNone/>
            </a:pPr>
            <a:r>
              <a:rPr lang="en-US" sz="1150" dirty="0">
                <a:solidFill>
                  <a:srgbClr val="9FB8CE"/>
                </a:solidFill>
                <a:latin typeface="Arial" pitchFamily="34" charset="0"/>
                <a:ea typeface="Arial" pitchFamily="34" charset="-122"/>
                <a:cs typeface="Arial" pitchFamily="34" charset="-120"/>
              </a:rPr>
              <a:t>library eksternal</a:t>
            </a:r>
            <a:endParaRPr lang="en-US" sz="1150" dirty="0"/>
          </a:p>
        </p:txBody>
      </p:sp>
      <p:sp>
        <p:nvSpPr>
          <p:cNvPr id="15" name="Text 13"/>
          <p:cNvSpPr/>
          <p:nvPr/>
        </p:nvSpPr>
        <p:spPr>
          <a:xfrm>
            <a:off x="457200" y="4434840"/>
            <a:ext cx="8229600" cy="320040"/>
          </a:xfrm>
          <a:prstGeom prst="rect">
            <a:avLst/>
          </a:prstGeom>
          <a:noFill/>
          <a:ln/>
        </p:spPr>
        <p:txBody>
          <a:bodyPr wrap="square" rtlCol="0" anchor="ctr"/>
          <a:lstStyle/>
          <a:p>
            <a:pPr algn="ctr" indent="0" marL="0">
              <a:buNone/>
            </a:pPr>
            <a:r>
              <a:rPr lang="en-US" sz="1100" dirty="0">
                <a:solidFill>
                  <a:srgbClr val="9FB8CE"/>
                </a:solidFill>
                <a:latin typeface="Arial" pitchFamily="34" charset="0"/>
                <a:ea typeface="Arial" pitchFamily="34" charset="-122"/>
                <a:cs typeface="Arial" pitchFamily="34" charset="-120"/>
              </a:rPr>
              <a:t>Django 6  ·  CSS 3D  ·  JavaScript Murni  —  Project 5 by Rey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GLACIREY — Blog Semi-3D dengan Django</dc:title>
  <dc:subject>PptxGenJS Presentation</dc:subject>
  <dc:creator>Rey</dc:creator>
  <cp:lastModifiedBy>Rey</cp:lastModifiedBy>
  <cp:revision>1</cp:revision>
  <dcterms:created xsi:type="dcterms:W3CDTF">2026-07-05T14:00:58Z</dcterms:created>
  <dcterms:modified xsi:type="dcterms:W3CDTF">2026-07-05T14:00:58Z</dcterms:modified>
</cp:coreProperties>
</file>